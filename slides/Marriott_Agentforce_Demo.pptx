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a:solidFill>
                  <a:srgbClr val="1C1C1C"/>
                </a:solidFill>
                <a:latin typeface="Calibri"/>
              </a:rPr>
              <a:t>Missing-stay cases worked by associates (M / yr)</a:t>
            </a:r>
          </a:p>
        </c:rich>
      </c:tx>
      <c:layout/>
      <c:overlay val="0"/>
    </c:title>
    <c:autoTitleDeleted val="0"/>
    <c:plotArea>
      <c:barChart>
        <c:barDir val="col"/>
        <c:grouping val="clustered"/>
        <c:ser>
          <c:idx val="0"/>
          <c:order val="0"/>
          <c:tx>
            <c:strRef>
              <c:f>Sheet1!$B$1</c:f>
              <c:strCache>
                <c:ptCount val="1"/>
                <c:pt idx="0">
                  <c:v>Missing-stay cases worked by associates (M/yr)</c:v>
                </c:pt>
              </c:strCache>
            </c:strRef>
          </c:tx>
          <c:dPt>
            <c:idx val="0"/>
            <c:spPr>
              <a:solidFill>
                <a:srgbClr val="262022"/>
              </a:solidFill>
            </c:spPr>
          </c:dPt>
          <c:dPt>
            <c:idx val="1"/>
            <c:spPr>
              <a:solidFill>
                <a:srgbClr val="B41F3A"/>
              </a:solidFill>
            </c:spPr>
          </c:dPt>
          <c:cat>
            <c:strRef>
              <c:f>Sheet1!$A$2:$A$3</c:f>
              <c:strCache>
                <c:ptCount val="2"/>
                <c:pt idx="0">
                  <c:v>Today</c:v>
                </c:pt>
                <c:pt idx="1">
                  <c:v>With Agentforce</c:v>
                </c:pt>
              </c:strCache>
            </c:strRef>
          </c:cat>
          <c:val>
            <c:numRef>
              <c:f>Sheet1!$B$2:$B$3</c:f>
              <c:numCache>
                <c:formatCode>General</c:formatCode>
                <c:ptCount val="2"/>
                <c:pt idx="0">
                  <c:v>10.5</c:v>
                </c:pt>
                <c:pt idx="1">
                  <c:v>4.2</c:v>
                </c:pt>
              </c:numCache>
            </c:numRef>
          </c:val>
        </c:ser>
        <c:dLbls>
          <c:numFmt formatCode="0.0&quot;M&quot;" sourceLinked="0"/>
          <c:txPr>
            <a:bodyPr/>
            <a:lstStyle/>
            <a:p>
              <a:pPr>
                <a:defRPr sz="1600" b="1">
                  <a:solidFill>
                    <a:srgbClr val="1C1C1C"/>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E6E1DC"/>
            </a:solidFill>
          </a:ln>
        </c:spPr>
        <c:txPr>
          <a:bodyPr/>
          <a:lstStyle/>
          <a:p>
            <a:pPr>
              <a:defRPr sz="1300">
                <a:solidFill>
                  <a:srgbClr val="1C1C1C"/>
                </a:solidFill>
              </a:defRPr>
            </a:pPr>
          </a:p>
        </c:txPr>
        <c:crossAx val="-2113994440"/>
        <c:crosses val="autoZero"/>
        <c:auto val="1"/>
        <c:lblAlgn val="ctr"/>
        <c:lblOffset val="100"/>
        <c:noMultiLvlLbl val="0"/>
      </c:catAx>
      <c:valAx>
        <c:axId val="-2113994440"/>
        <c:scaling>
          <c:max val="12.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(0:00). Walk up, pause, smile. Title stays up while the team introduces itself.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CREDENTIAL (30 sec). Each person: 1 sentence. Job without jargon, background, why here.</a:t>
            </a:r>
          </a:p>
          <a:p>
            <a:r>
              <a:t>Example: 'My role is to understand Marriott's priorities and match them to what Salesforce can do. I've spent X years helping service teams…'</a:t>
            </a:r>
          </a:p>
          <a:p>
            <a:r>
              <a:t>Handoff: 'Let me start with a number.'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GRABBER (45 sec). Say the number, then PAUSE for 2 seconds.</a:t>
            </a:r>
          </a:p>
          <a:p>
            <a:r>
              <a:t>'Ten and a half million times a year, one of your most loyal guests asks: where are my points? Today that means a web form, a 5 to 7 day wait, and an associate searching three systems for the answer.'</a:t>
            </a:r>
          </a:p>
          <a:p>
            <a:r>
              <a:t>Optional: add a 'State of Service' stat here (salesforce.com → State of Service report).</a:t>
            </a:r>
          </a:p>
          <a:p>
            <a:r>
              <a:t>Handoff: 'And that one question tells the story of three bigger challenges.'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SCENE (1 min). Use their words. Name the stakeholder behind each challenge.</a:t>
            </a:r>
          </a:p>
          <a:p>
            <a:r>
              <a:t>Ask one open question: 'Suki, is that 35% number still what you're seeing?'</a:t>
            </a:r>
          </a:p>
          <a:p>
            <a:r>
              <a:t>Handoff: 'And if nothing changes…'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OF INACTION (45 sec). Walk the 5 steps quickly. Stress: every step is a system hop.</a:t>
            </a:r>
          </a:p>
          <a:p>
            <a:r>
              <a:t>'Every one of these cases costs associate time, and every day of waiting costs loyalty.'</a:t>
            </a:r>
          </a:p>
          <a:p>
            <a:r>
              <a:t>Handoff to the demo: 'Let us show you a different version of Lauren's week.'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AGENDA (15 sec max), then switch to the browser.</a:t>
            </a:r>
          </a:p>
          <a:p>
            <a:r>
              <a:t>Tab 1: mock Bonvoy site (Lauren) · Tab 2: Service Console (Tom) · Tab 3: Agentforce Builder · Tab 4: dashboard (Suki).</a:t>
            </a:r>
          </a:p>
          <a:p>
            <a:r>
              <a:t>Full click path and talk track are in README.md §2.</a:t>
            </a:r>
          </a:p>
          <a:p>
            <a:r>
              <a:t>Each chapter: CONTEXT → FEATURE (live) → BENEFIT.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VALUE SUMMARY (25 sec). Repeat the three key messages word for word from the demo.</a:t>
            </a:r>
          </a:p>
          <a:p>
            <a:r>
              <a:t>Frame the number as a hypothesis: 'If Agentforce resolved 60% of missing-stay requests, that's six million cases your associates never have to touch. We'd love to build that model with your real numbers.'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CUSTOMER STORY (20 sec). One sentence of context, one metric, one quote. Then move on.</a:t>
            </a:r>
          </a:p>
          <a:p>
            <a:r>
              <a:t>Find it: Slackbot → 'Customer Story &amp; Deal Win Finder' → 'Agentforce Service travel hospitality'.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(15 sec). Ask the question on the red bar directly, then stop talking and wait for the answer.</a:t>
            </a:r>
          </a:p>
          <a:p>
            <a:r>
              <a:t>Then: 'Thank you. We'd love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2022"/>
        </a:solidFill>
        <a:effectLst/>
      </p:bgPr>
    </p:bg>
    <p:spTree>
      <p:nvGrpSpPr>
        <p:cNvPr id="1" name=""/>
        <p:cNvGrpSpPr/>
        <p:nvPr/>
      </p:nvGrpSpPr>
      <p:grpSpPr/>
      <p:sp>
        <p:nvSpPr>
          <p:cNvPr id="2" name="Rectangle 1"/>
          <p:cNvSpPr/>
          <p:nvPr/>
        </p:nvSpPr>
        <p:spPr>
          <a:xfrm>
            <a:off x="7223760" y="0"/>
            <a:ext cx="4967935" cy="6858000"/>
          </a:xfrm>
          <a:prstGeom prst="rect">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1520" y="640080"/>
            <a:ext cx="2743200" cy="411480"/>
          </a:xfrm>
          <a:prstGeom prst="rect">
            <a:avLst/>
          </a:prstGeom>
          <a:noFill/>
        </p:spPr>
        <p:txBody>
          <a:bodyPr wrap="square" lIns="0" rIns="0" tIns="0" bIns="0" anchor="t">
            <a:spAutoFit/>
          </a:bodyPr>
          <a:lstStyle/>
          <a:p>
            <a:pPr algn="l"/>
            <a:r>
              <a:rPr sz="2200" b="1" i="0">
                <a:solidFill>
                  <a:srgbClr val="FFFFFF"/>
                </a:solidFill>
                <a:latin typeface="Cambria"/>
              </a:rPr>
              <a:t>Marriott</a:t>
            </a:r>
          </a:p>
        </p:txBody>
      </p:sp>
      <p:sp>
        <p:nvSpPr>
          <p:cNvPr id="4" name="TextBox 3"/>
          <p:cNvSpPr txBox="1"/>
          <p:nvPr/>
        </p:nvSpPr>
        <p:spPr>
          <a:xfrm>
            <a:off x="749808" y="1024127"/>
            <a:ext cx="2743200" cy="228600"/>
          </a:xfrm>
          <a:prstGeom prst="rect">
            <a:avLst/>
          </a:prstGeom>
          <a:noFill/>
        </p:spPr>
        <p:txBody>
          <a:bodyPr wrap="square" lIns="0" rIns="0" tIns="0" bIns="0" anchor="t">
            <a:spAutoFit/>
          </a:bodyPr>
          <a:lstStyle/>
          <a:p>
            <a:pPr algn="l"/>
            <a:r>
              <a:rPr sz="900" b="1" i="0">
                <a:solidFill>
                  <a:srgbClr val="D9CFD1"/>
                </a:solidFill>
                <a:latin typeface="Calibri"/>
              </a:rPr>
              <a:t>BONVOY  ×  SALESFORCE</a:t>
            </a:r>
          </a:p>
        </p:txBody>
      </p:sp>
      <p:sp>
        <p:nvSpPr>
          <p:cNvPr id="5" name="TextBox 4"/>
          <p:cNvSpPr txBox="1"/>
          <p:nvPr/>
        </p:nvSpPr>
        <p:spPr>
          <a:xfrm>
            <a:off x="731520" y="2011680"/>
            <a:ext cx="6217920" cy="365760"/>
          </a:xfrm>
          <a:prstGeom prst="rect">
            <a:avLst/>
          </a:prstGeom>
          <a:noFill/>
        </p:spPr>
        <p:txBody>
          <a:bodyPr wrap="square" lIns="0" rIns="0" tIns="0" bIns="0" anchor="t">
            <a:spAutoFit/>
          </a:bodyPr>
          <a:lstStyle/>
          <a:p>
            <a:pPr algn="l"/>
            <a:r>
              <a:rPr sz="1200" b="1" i="0">
                <a:solidFill>
                  <a:srgbClr val="B38E5D"/>
                </a:solidFill>
                <a:latin typeface="Calibri"/>
              </a:rPr>
              <a:t>AGENTFORCE FOR THE CUSTOMER ENGAGEMENT CENTER</a:t>
            </a:r>
          </a:p>
        </p:txBody>
      </p:sp>
      <p:sp>
        <p:nvSpPr>
          <p:cNvPr id="6" name="TextBox 5"/>
          <p:cNvSpPr txBox="1"/>
          <p:nvPr/>
        </p:nvSpPr>
        <p:spPr>
          <a:xfrm>
            <a:off x="731520" y="2423160"/>
            <a:ext cx="6309360" cy="2011680"/>
          </a:xfrm>
          <a:prstGeom prst="rect">
            <a:avLst/>
          </a:prstGeom>
          <a:noFill/>
        </p:spPr>
        <p:txBody>
          <a:bodyPr wrap="square" lIns="0" rIns="0" tIns="0" bIns="0" anchor="t">
            <a:spAutoFit/>
          </a:bodyPr>
          <a:lstStyle/>
          <a:p>
            <a:pPr algn="l"/>
            <a:r>
              <a:rPr sz="5400" b="1" i="0">
                <a:solidFill>
                  <a:srgbClr val="FFFFFF"/>
                </a:solidFill>
                <a:latin typeface="Cambria"/>
              </a:rPr>
              <a:t>Where are my points?</a:t>
            </a:r>
          </a:p>
        </p:txBody>
      </p:sp>
      <p:sp>
        <p:nvSpPr>
          <p:cNvPr id="7" name="TextBox 6"/>
          <p:cNvSpPr txBox="1"/>
          <p:nvPr/>
        </p:nvSpPr>
        <p:spPr>
          <a:xfrm>
            <a:off x="731520" y="4343400"/>
            <a:ext cx="6035040" cy="1097280"/>
          </a:xfrm>
          <a:prstGeom prst="rect">
            <a:avLst/>
          </a:prstGeom>
          <a:noFill/>
        </p:spPr>
        <p:txBody>
          <a:bodyPr wrap="square" lIns="0" rIns="0" tIns="0" bIns="0" anchor="t">
            <a:spAutoFit/>
          </a:bodyPr>
          <a:lstStyle/>
          <a:p>
            <a:pPr algn="l"/>
            <a:r>
              <a:rPr sz="1800" b="0" i="0">
                <a:solidFill>
                  <a:srgbClr val="D9CFD1"/>
                </a:solidFill>
                <a:latin typeface="Calibri"/>
              </a:rPr>
              <a:t>How Marriott can resolve its #1 guest request instantly, and give every associate the whole story.</a:t>
            </a:r>
          </a:p>
        </p:txBody>
      </p:sp>
      <p:sp>
        <p:nvSpPr>
          <p:cNvPr id="8" name="TextBox 7"/>
          <p:cNvSpPr txBox="1"/>
          <p:nvPr/>
        </p:nvSpPr>
        <p:spPr>
          <a:xfrm>
            <a:off x="731520" y="5760720"/>
            <a:ext cx="6217920" cy="365760"/>
          </a:xfrm>
          <a:prstGeom prst="rect">
            <a:avLst/>
          </a:prstGeom>
          <a:noFill/>
        </p:spPr>
        <p:txBody>
          <a:bodyPr wrap="square" lIns="0" rIns="0" tIns="0" bIns="0" anchor="t">
            <a:spAutoFit/>
          </a:bodyPr>
          <a:lstStyle/>
          <a:p>
            <a:pPr algn="l"/>
            <a:r>
              <a:rPr sz="1300" b="0" i="0">
                <a:solidFill>
                  <a:srgbClr val="D9CFD1"/>
                </a:solidFill>
                <a:latin typeface="Calibri"/>
              </a:rPr>
              <a:t>[Team name]  ·  Solutions Foundations  ·  2026</a:t>
            </a:r>
          </a:p>
        </p:txBody>
      </p:sp>
      <p:sp>
        <p:nvSpPr>
          <p:cNvPr id="9" name="TextBox 8"/>
          <p:cNvSpPr txBox="1"/>
          <p:nvPr/>
        </p:nvSpPr>
        <p:spPr>
          <a:xfrm>
            <a:off x="7863840" y="1234440"/>
            <a:ext cx="3840480" cy="822960"/>
          </a:xfrm>
          <a:prstGeom prst="rect">
            <a:avLst/>
          </a:prstGeom>
          <a:noFill/>
        </p:spPr>
        <p:txBody>
          <a:bodyPr wrap="square" lIns="0" rIns="0" tIns="0" bIns="0" anchor="t">
            <a:spAutoFit/>
          </a:bodyPr>
          <a:lstStyle/>
          <a:p>
            <a:pPr algn="l"/>
            <a:r>
              <a:rPr sz="5400" b="1" i="0">
                <a:solidFill>
                  <a:srgbClr val="FFFFFF"/>
                </a:solidFill>
                <a:latin typeface="Cambria"/>
              </a:rPr>
              <a:t>30M</a:t>
            </a:r>
          </a:p>
        </p:txBody>
      </p:sp>
      <p:sp>
        <p:nvSpPr>
          <p:cNvPr id="10" name="TextBox 9"/>
          <p:cNvSpPr txBox="1"/>
          <p:nvPr/>
        </p:nvSpPr>
        <p:spPr>
          <a:xfrm>
            <a:off x="7863840" y="2103120"/>
            <a:ext cx="3840480" cy="365760"/>
          </a:xfrm>
          <a:prstGeom prst="rect">
            <a:avLst/>
          </a:prstGeom>
          <a:noFill/>
        </p:spPr>
        <p:txBody>
          <a:bodyPr wrap="square" lIns="0" rIns="0" tIns="0" bIns="0" anchor="t">
            <a:spAutoFit/>
          </a:bodyPr>
          <a:lstStyle/>
          <a:p>
            <a:pPr algn="l"/>
            <a:r>
              <a:rPr sz="1500" b="0" i="0">
                <a:solidFill>
                  <a:srgbClr val="FFFFFF"/>
                </a:solidFill>
                <a:latin typeface="Calibri"/>
              </a:rPr>
              <a:t>cases a year</a:t>
            </a:r>
          </a:p>
        </p:txBody>
      </p:sp>
      <p:sp>
        <p:nvSpPr>
          <p:cNvPr id="11" name="TextBox 10"/>
          <p:cNvSpPr txBox="1"/>
          <p:nvPr/>
        </p:nvSpPr>
        <p:spPr>
          <a:xfrm>
            <a:off x="7863840" y="2834640"/>
            <a:ext cx="3840480" cy="822960"/>
          </a:xfrm>
          <a:prstGeom prst="rect">
            <a:avLst/>
          </a:prstGeom>
          <a:noFill/>
        </p:spPr>
        <p:txBody>
          <a:bodyPr wrap="square" lIns="0" rIns="0" tIns="0" bIns="0" anchor="t">
            <a:spAutoFit/>
          </a:bodyPr>
          <a:lstStyle/>
          <a:p>
            <a:pPr algn="l"/>
            <a:r>
              <a:rPr sz="5400" b="1" i="0">
                <a:solidFill>
                  <a:srgbClr val="FFFFFF"/>
                </a:solidFill>
                <a:latin typeface="Cambria"/>
              </a:rPr>
              <a:t>35%</a:t>
            </a:r>
          </a:p>
        </p:txBody>
      </p:sp>
      <p:sp>
        <p:nvSpPr>
          <p:cNvPr id="12" name="TextBox 11"/>
          <p:cNvSpPr txBox="1"/>
          <p:nvPr/>
        </p:nvSpPr>
        <p:spPr>
          <a:xfrm>
            <a:off x="7863840" y="3703320"/>
            <a:ext cx="3840480" cy="365760"/>
          </a:xfrm>
          <a:prstGeom prst="rect">
            <a:avLst/>
          </a:prstGeom>
          <a:noFill/>
        </p:spPr>
        <p:txBody>
          <a:bodyPr wrap="square" lIns="0" rIns="0" tIns="0" bIns="0" anchor="t">
            <a:spAutoFit/>
          </a:bodyPr>
          <a:lstStyle/>
          <a:p>
            <a:pPr algn="l"/>
            <a:r>
              <a:rPr sz="1500" b="0" i="0">
                <a:solidFill>
                  <a:srgbClr val="FFFFFF"/>
                </a:solidFill>
                <a:latin typeface="Calibri"/>
              </a:rPr>
              <a:t>are missing stays &amp; points</a:t>
            </a:r>
          </a:p>
        </p:txBody>
      </p:sp>
      <p:sp>
        <p:nvSpPr>
          <p:cNvPr id="13" name="TextBox 12"/>
          <p:cNvSpPr txBox="1"/>
          <p:nvPr/>
        </p:nvSpPr>
        <p:spPr>
          <a:xfrm>
            <a:off x="7863840" y="4434840"/>
            <a:ext cx="3840480" cy="822960"/>
          </a:xfrm>
          <a:prstGeom prst="rect">
            <a:avLst/>
          </a:prstGeom>
          <a:noFill/>
        </p:spPr>
        <p:txBody>
          <a:bodyPr wrap="square" lIns="0" rIns="0" tIns="0" bIns="0" anchor="t">
            <a:spAutoFit/>
          </a:bodyPr>
          <a:lstStyle/>
          <a:p>
            <a:pPr algn="l"/>
            <a:r>
              <a:rPr sz="5400" b="1" i="0">
                <a:solidFill>
                  <a:srgbClr val="FFFFFF"/>
                </a:solidFill>
                <a:latin typeface="Cambria"/>
              </a:rPr>
              <a:t>7</a:t>
            </a:r>
          </a:p>
        </p:txBody>
      </p:sp>
      <p:sp>
        <p:nvSpPr>
          <p:cNvPr id="14" name="TextBox 13"/>
          <p:cNvSpPr txBox="1"/>
          <p:nvPr/>
        </p:nvSpPr>
        <p:spPr>
          <a:xfrm>
            <a:off x="7863840" y="5303520"/>
            <a:ext cx="3840480" cy="365760"/>
          </a:xfrm>
          <a:prstGeom prst="rect">
            <a:avLst/>
          </a:prstGeom>
          <a:noFill/>
        </p:spPr>
        <p:txBody>
          <a:bodyPr wrap="square" lIns="0" rIns="0" tIns="0" bIns="0" anchor="t">
            <a:spAutoFit/>
          </a:bodyPr>
          <a:lstStyle/>
          <a:p>
            <a:pPr algn="l"/>
            <a:r>
              <a:rPr sz="1500" b="0" i="0">
                <a:solidFill>
                  <a:srgbClr val="FFFFFF"/>
                </a:solidFill>
                <a:latin typeface="Calibri"/>
              </a:rPr>
              <a:t>global contact centers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5486400" cy="274320"/>
          </a:xfrm>
          <a:prstGeom prst="rect">
            <a:avLst/>
          </a:prstGeom>
          <a:noFill/>
        </p:spPr>
        <p:txBody>
          <a:bodyPr wrap="square" lIns="0" rIns="0" tIns="0" bIns="0" anchor="t">
            <a:spAutoFit/>
          </a:bodyPr>
          <a:lstStyle/>
          <a:p>
            <a:pPr algn="l"/>
            <a:r>
              <a:rPr sz="1100" b="1" i="0">
                <a:solidFill>
                  <a:srgbClr val="B38E5D"/>
                </a:solidFill>
                <a:latin typeface="Calibri"/>
              </a:rPr>
              <a:t>OPENING · CREDENTIAL</a:t>
            </a:r>
          </a:p>
        </p:txBody>
      </p:sp>
      <p:sp>
        <p:nvSpPr>
          <p:cNvPr id="3" name="Rounded Rectangle 2"/>
          <p:cNvSpPr/>
          <p:nvPr/>
        </p:nvSpPr>
        <p:spPr>
          <a:xfrm>
            <a:off x="10378440" y="365760"/>
            <a:ext cx="1280160" cy="384048"/>
          </a:xfrm>
          <a:prstGeom prst="roundRect">
            <a:avLst>
              <a:gd name="adj" fmla="val 8000"/>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latin typeface="Calibri"/>
              </a:rPr>
              <a:t>0:00 – 0:30</a:t>
            </a:r>
          </a:p>
        </p:txBody>
      </p:sp>
      <p:sp>
        <p:nvSpPr>
          <p:cNvPr id="4" name="TextBox 3"/>
          <p:cNvSpPr txBox="1"/>
          <p:nvPr/>
        </p:nvSpPr>
        <p:spPr>
          <a:xfrm>
            <a:off x="548640" y="731520"/>
            <a:ext cx="10058400" cy="822960"/>
          </a:xfrm>
          <a:prstGeom prst="rect">
            <a:avLst/>
          </a:prstGeom>
          <a:noFill/>
        </p:spPr>
        <p:txBody>
          <a:bodyPr wrap="square" lIns="0" rIns="0" tIns="0" bIns="0" anchor="t">
            <a:spAutoFit/>
          </a:bodyPr>
          <a:lstStyle/>
          <a:p>
            <a:pPr algn="l"/>
            <a:r>
              <a:rPr sz="3800" b="1" i="0">
                <a:solidFill>
                  <a:srgbClr val="1C1C1C"/>
                </a:solidFill>
                <a:latin typeface="Cambria"/>
              </a:rPr>
              <a:t>Who we are and why we're here</a:t>
            </a:r>
          </a:p>
        </p:txBody>
      </p:sp>
      <p:sp>
        <p:nvSpPr>
          <p:cNvPr id="5" name="Rounded Rectangle 4"/>
          <p:cNvSpPr/>
          <p:nvPr/>
        </p:nvSpPr>
        <p:spPr>
          <a:xfrm>
            <a:off x="548640" y="1874519"/>
            <a:ext cx="2606040" cy="2651760"/>
          </a:xfrm>
          <a:prstGeom prst="roundRect">
            <a:avLst>
              <a:gd name="adj" fmla="val 8000"/>
            </a:avLst>
          </a:prstGeom>
          <a:solidFill>
            <a:srgbClr val="FB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22959" y="2148840"/>
            <a:ext cx="731520" cy="731520"/>
          </a:xfrm>
          <a:prstGeom prst="ellipse">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mbria"/>
              </a:rPr>
              <a:t>A</a:t>
            </a:r>
          </a:p>
        </p:txBody>
      </p:sp>
      <p:sp>
        <p:nvSpPr>
          <p:cNvPr id="7" name="TextBox 6"/>
          <p:cNvSpPr txBox="1"/>
          <p:nvPr/>
        </p:nvSpPr>
        <p:spPr>
          <a:xfrm>
            <a:off x="822959" y="3063240"/>
            <a:ext cx="2194560" cy="411480"/>
          </a:xfrm>
          <a:prstGeom prst="rect">
            <a:avLst/>
          </a:prstGeom>
          <a:noFill/>
        </p:spPr>
        <p:txBody>
          <a:bodyPr wrap="square" lIns="0" rIns="0" tIns="0" bIns="0" anchor="t">
            <a:spAutoFit/>
          </a:bodyPr>
          <a:lstStyle/>
          <a:p>
            <a:pPr algn="l"/>
            <a:r>
              <a:rPr sz="2000" b="1" i="0">
                <a:solidFill>
                  <a:srgbClr val="1C1C1C"/>
                </a:solidFill>
                <a:latin typeface="Cambria"/>
              </a:rPr>
              <a:t>[Name]</a:t>
            </a:r>
          </a:p>
        </p:txBody>
      </p:sp>
      <p:sp>
        <p:nvSpPr>
          <p:cNvPr id="8" name="TextBox 7"/>
          <p:cNvSpPr txBox="1"/>
          <p:nvPr/>
        </p:nvSpPr>
        <p:spPr>
          <a:xfrm>
            <a:off x="822959" y="3474720"/>
            <a:ext cx="2194560" cy="457200"/>
          </a:xfrm>
          <a:prstGeom prst="rect">
            <a:avLst/>
          </a:prstGeom>
          <a:noFill/>
        </p:spPr>
        <p:txBody>
          <a:bodyPr wrap="square" lIns="0" rIns="0" tIns="0" bIns="0" anchor="t">
            <a:spAutoFit/>
          </a:bodyPr>
          <a:lstStyle/>
          <a:p>
            <a:pPr algn="l"/>
            <a:r>
              <a:rPr sz="1300" b="0" i="0">
                <a:solidFill>
                  <a:srgbClr val="6B6B6B"/>
                </a:solidFill>
                <a:latin typeface="Calibri"/>
              </a:rPr>
              <a:t>Solution Engineer · Service</a:t>
            </a:r>
          </a:p>
        </p:txBody>
      </p:sp>
      <p:sp>
        <p:nvSpPr>
          <p:cNvPr id="9" name="TextBox 8"/>
          <p:cNvSpPr txBox="1"/>
          <p:nvPr/>
        </p:nvSpPr>
        <p:spPr>
          <a:xfrm>
            <a:off x="822959" y="3931920"/>
            <a:ext cx="2194560" cy="457200"/>
          </a:xfrm>
          <a:prstGeom prst="rect">
            <a:avLst/>
          </a:prstGeom>
          <a:noFill/>
        </p:spPr>
        <p:txBody>
          <a:bodyPr wrap="square" lIns="0" rIns="0" tIns="0" bIns="0" anchor="t">
            <a:spAutoFit/>
          </a:bodyPr>
          <a:lstStyle/>
          <a:p>
            <a:pPr algn="l"/>
            <a:r>
              <a:rPr sz="1300" b="1" i="0">
                <a:solidFill>
                  <a:srgbClr val="B41F3A"/>
                </a:solidFill>
                <a:latin typeface="Calibri"/>
              </a:rPr>
              <a:t>Opens, credentials the team</a:t>
            </a:r>
          </a:p>
        </p:txBody>
      </p:sp>
      <p:sp>
        <p:nvSpPr>
          <p:cNvPr id="10" name="Rounded Rectangle 9"/>
          <p:cNvSpPr/>
          <p:nvPr/>
        </p:nvSpPr>
        <p:spPr>
          <a:xfrm>
            <a:off x="3364992" y="1874519"/>
            <a:ext cx="2606040" cy="2651760"/>
          </a:xfrm>
          <a:prstGeom prst="roundRect">
            <a:avLst>
              <a:gd name="adj" fmla="val 8000"/>
            </a:avLst>
          </a:prstGeom>
          <a:solidFill>
            <a:srgbClr val="FB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39312" y="2148840"/>
            <a:ext cx="731520" cy="731520"/>
          </a:xfrm>
          <a:prstGeom prst="ellipse">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mbria"/>
              </a:rPr>
              <a:t>B</a:t>
            </a:r>
          </a:p>
        </p:txBody>
      </p:sp>
      <p:sp>
        <p:nvSpPr>
          <p:cNvPr id="12" name="TextBox 11"/>
          <p:cNvSpPr txBox="1"/>
          <p:nvPr/>
        </p:nvSpPr>
        <p:spPr>
          <a:xfrm>
            <a:off x="3639312" y="3063240"/>
            <a:ext cx="2194560" cy="411480"/>
          </a:xfrm>
          <a:prstGeom prst="rect">
            <a:avLst/>
          </a:prstGeom>
          <a:noFill/>
        </p:spPr>
        <p:txBody>
          <a:bodyPr wrap="square" lIns="0" rIns="0" tIns="0" bIns="0" anchor="t">
            <a:spAutoFit/>
          </a:bodyPr>
          <a:lstStyle/>
          <a:p>
            <a:pPr algn="l"/>
            <a:r>
              <a:rPr sz="2000" b="1" i="0">
                <a:solidFill>
                  <a:srgbClr val="1C1C1C"/>
                </a:solidFill>
                <a:latin typeface="Cambria"/>
              </a:rPr>
              <a:t>[Name]</a:t>
            </a:r>
          </a:p>
        </p:txBody>
      </p:sp>
      <p:sp>
        <p:nvSpPr>
          <p:cNvPr id="13" name="TextBox 12"/>
          <p:cNvSpPr txBox="1"/>
          <p:nvPr/>
        </p:nvSpPr>
        <p:spPr>
          <a:xfrm>
            <a:off x="3639312" y="3474720"/>
            <a:ext cx="2194560" cy="457200"/>
          </a:xfrm>
          <a:prstGeom prst="rect">
            <a:avLst/>
          </a:prstGeom>
          <a:noFill/>
        </p:spPr>
        <p:txBody>
          <a:bodyPr wrap="square" lIns="0" rIns="0" tIns="0" bIns="0" anchor="t">
            <a:spAutoFit/>
          </a:bodyPr>
          <a:lstStyle/>
          <a:p>
            <a:pPr algn="l"/>
            <a:r>
              <a:rPr sz="1300" b="0" i="0">
                <a:solidFill>
                  <a:srgbClr val="6B6B6B"/>
                </a:solidFill>
                <a:latin typeface="Calibri"/>
              </a:rPr>
              <a:t>Solution Engineer · Data 360</a:t>
            </a:r>
          </a:p>
        </p:txBody>
      </p:sp>
      <p:sp>
        <p:nvSpPr>
          <p:cNvPr id="14" name="TextBox 13"/>
          <p:cNvSpPr txBox="1"/>
          <p:nvPr/>
        </p:nvSpPr>
        <p:spPr>
          <a:xfrm>
            <a:off x="3639312" y="3931920"/>
            <a:ext cx="2194560" cy="457200"/>
          </a:xfrm>
          <a:prstGeom prst="rect">
            <a:avLst/>
          </a:prstGeom>
          <a:noFill/>
        </p:spPr>
        <p:txBody>
          <a:bodyPr wrap="square" lIns="0" rIns="0" tIns="0" bIns="0" anchor="t">
            <a:spAutoFit/>
          </a:bodyPr>
          <a:lstStyle/>
          <a:p>
            <a:pPr algn="l"/>
            <a:r>
              <a:rPr sz="1300" b="1" i="0">
                <a:solidFill>
                  <a:srgbClr val="B41F3A"/>
                </a:solidFill>
                <a:latin typeface="Calibri"/>
              </a:rPr>
              <a:t>Sets the scene</a:t>
            </a:r>
          </a:p>
        </p:txBody>
      </p:sp>
      <p:sp>
        <p:nvSpPr>
          <p:cNvPr id="15" name="Rounded Rectangle 14"/>
          <p:cNvSpPr/>
          <p:nvPr/>
        </p:nvSpPr>
        <p:spPr>
          <a:xfrm>
            <a:off x="6181344" y="1874519"/>
            <a:ext cx="2606040" cy="2651760"/>
          </a:xfrm>
          <a:prstGeom prst="roundRect">
            <a:avLst>
              <a:gd name="adj" fmla="val 8000"/>
            </a:avLst>
          </a:prstGeom>
          <a:solidFill>
            <a:srgbClr val="FB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455664" y="2148840"/>
            <a:ext cx="731520" cy="731520"/>
          </a:xfrm>
          <a:prstGeom prst="ellipse">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mbria"/>
              </a:rPr>
              <a:t>C</a:t>
            </a:r>
          </a:p>
        </p:txBody>
      </p:sp>
      <p:sp>
        <p:nvSpPr>
          <p:cNvPr id="17" name="TextBox 16"/>
          <p:cNvSpPr txBox="1"/>
          <p:nvPr/>
        </p:nvSpPr>
        <p:spPr>
          <a:xfrm>
            <a:off x="6455664" y="3063240"/>
            <a:ext cx="2194560" cy="411480"/>
          </a:xfrm>
          <a:prstGeom prst="rect">
            <a:avLst/>
          </a:prstGeom>
          <a:noFill/>
        </p:spPr>
        <p:txBody>
          <a:bodyPr wrap="square" lIns="0" rIns="0" tIns="0" bIns="0" anchor="t">
            <a:spAutoFit/>
          </a:bodyPr>
          <a:lstStyle/>
          <a:p>
            <a:pPr algn="l"/>
            <a:r>
              <a:rPr sz="2000" b="1" i="0">
                <a:solidFill>
                  <a:srgbClr val="1C1C1C"/>
                </a:solidFill>
                <a:latin typeface="Cambria"/>
              </a:rPr>
              <a:t>[Name]</a:t>
            </a:r>
          </a:p>
        </p:txBody>
      </p:sp>
      <p:sp>
        <p:nvSpPr>
          <p:cNvPr id="18" name="TextBox 17"/>
          <p:cNvSpPr txBox="1"/>
          <p:nvPr/>
        </p:nvSpPr>
        <p:spPr>
          <a:xfrm>
            <a:off x="6455664" y="3474720"/>
            <a:ext cx="2194560" cy="457200"/>
          </a:xfrm>
          <a:prstGeom prst="rect">
            <a:avLst/>
          </a:prstGeom>
          <a:noFill/>
        </p:spPr>
        <p:txBody>
          <a:bodyPr wrap="square" lIns="0" rIns="0" tIns="0" bIns="0" anchor="t">
            <a:spAutoFit/>
          </a:bodyPr>
          <a:lstStyle/>
          <a:p>
            <a:pPr algn="l"/>
            <a:r>
              <a:rPr sz="1300" b="0" i="0">
                <a:solidFill>
                  <a:srgbClr val="6B6B6B"/>
                </a:solidFill>
                <a:latin typeface="Calibri"/>
              </a:rPr>
              <a:t>Solution Engineer · Agentforce</a:t>
            </a:r>
          </a:p>
        </p:txBody>
      </p:sp>
      <p:sp>
        <p:nvSpPr>
          <p:cNvPr id="19" name="TextBox 18"/>
          <p:cNvSpPr txBox="1"/>
          <p:nvPr/>
        </p:nvSpPr>
        <p:spPr>
          <a:xfrm>
            <a:off x="6455664" y="3931920"/>
            <a:ext cx="2194560" cy="457200"/>
          </a:xfrm>
          <a:prstGeom prst="rect">
            <a:avLst/>
          </a:prstGeom>
          <a:noFill/>
        </p:spPr>
        <p:txBody>
          <a:bodyPr wrap="square" lIns="0" rIns="0" tIns="0" bIns="0" anchor="t">
            <a:spAutoFit/>
          </a:bodyPr>
          <a:lstStyle/>
          <a:p>
            <a:pPr algn="l"/>
            <a:r>
              <a:rPr sz="1300" b="1" i="0">
                <a:solidFill>
                  <a:srgbClr val="B41F3A"/>
                </a:solidFill>
                <a:latin typeface="Calibri"/>
              </a:rPr>
              <a:t>Drives the live demo</a:t>
            </a:r>
          </a:p>
        </p:txBody>
      </p:sp>
      <p:sp>
        <p:nvSpPr>
          <p:cNvPr id="20" name="Rounded Rectangle 19"/>
          <p:cNvSpPr/>
          <p:nvPr/>
        </p:nvSpPr>
        <p:spPr>
          <a:xfrm>
            <a:off x="8997696" y="1874519"/>
            <a:ext cx="2606040" cy="2651760"/>
          </a:xfrm>
          <a:prstGeom prst="roundRect">
            <a:avLst>
              <a:gd name="adj" fmla="val 8000"/>
            </a:avLst>
          </a:prstGeom>
          <a:solidFill>
            <a:srgbClr val="FB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272016" y="2148840"/>
            <a:ext cx="731520" cy="731520"/>
          </a:xfrm>
          <a:prstGeom prst="ellipse">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mbria"/>
              </a:rPr>
              <a:t>D</a:t>
            </a:r>
          </a:p>
        </p:txBody>
      </p:sp>
      <p:sp>
        <p:nvSpPr>
          <p:cNvPr id="22" name="TextBox 21"/>
          <p:cNvSpPr txBox="1"/>
          <p:nvPr/>
        </p:nvSpPr>
        <p:spPr>
          <a:xfrm>
            <a:off x="9272016" y="3063240"/>
            <a:ext cx="2194560" cy="411480"/>
          </a:xfrm>
          <a:prstGeom prst="rect">
            <a:avLst/>
          </a:prstGeom>
          <a:noFill/>
        </p:spPr>
        <p:txBody>
          <a:bodyPr wrap="square" lIns="0" rIns="0" tIns="0" bIns="0" anchor="t">
            <a:spAutoFit/>
          </a:bodyPr>
          <a:lstStyle/>
          <a:p>
            <a:pPr algn="l"/>
            <a:r>
              <a:rPr sz="2000" b="1" i="0">
                <a:solidFill>
                  <a:srgbClr val="1C1C1C"/>
                </a:solidFill>
                <a:latin typeface="Cambria"/>
              </a:rPr>
              <a:t>[Name]</a:t>
            </a:r>
          </a:p>
        </p:txBody>
      </p:sp>
      <p:sp>
        <p:nvSpPr>
          <p:cNvPr id="23" name="TextBox 22"/>
          <p:cNvSpPr txBox="1"/>
          <p:nvPr/>
        </p:nvSpPr>
        <p:spPr>
          <a:xfrm>
            <a:off x="9272016" y="3474720"/>
            <a:ext cx="2194560" cy="457200"/>
          </a:xfrm>
          <a:prstGeom prst="rect">
            <a:avLst/>
          </a:prstGeom>
          <a:noFill/>
        </p:spPr>
        <p:txBody>
          <a:bodyPr wrap="square" lIns="0" rIns="0" tIns="0" bIns="0" anchor="t">
            <a:spAutoFit/>
          </a:bodyPr>
          <a:lstStyle/>
          <a:p>
            <a:pPr algn="l"/>
            <a:r>
              <a:rPr sz="1300" b="0" i="0">
                <a:solidFill>
                  <a:srgbClr val="6B6B6B"/>
                </a:solidFill>
                <a:latin typeface="Calibri"/>
              </a:rPr>
              <a:t>Solution Engineer · Platform</a:t>
            </a:r>
          </a:p>
        </p:txBody>
      </p:sp>
      <p:sp>
        <p:nvSpPr>
          <p:cNvPr id="24" name="TextBox 23"/>
          <p:cNvSpPr txBox="1"/>
          <p:nvPr/>
        </p:nvSpPr>
        <p:spPr>
          <a:xfrm>
            <a:off x="9272016" y="3931920"/>
            <a:ext cx="2194560" cy="457200"/>
          </a:xfrm>
          <a:prstGeom prst="rect">
            <a:avLst/>
          </a:prstGeom>
          <a:noFill/>
        </p:spPr>
        <p:txBody>
          <a:bodyPr wrap="square" lIns="0" rIns="0" tIns="0" bIns="0" anchor="t">
            <a:spAutoFit/>
          </a:bodyPr>
          <a:lstStyle/>
          <a:p>
            <a:pPr algn="l"/>
            <a:r>
              <a:rPr sz="1300" b="1" i="0">
                <a:solidFill>
                  <a:srgbClr val="B41F3A"/>
                </a:solidFill>
                <a:latin typeface="Calibri"/>
              </a:rPr>
              <a:t>Closes, value and next steps</a:t>
            </a:r>
          </a:p>
        </p:txBody>
      </p:sp>
      <p:sp>
        <p:nvSpPr>
          <p:cNvPr id="25" name="Rounded Rectangle 24"/>
          <p:cNvSpPr/>
          <p:nvPr/>
        </p:nvSpPr>
        <p:spPr>
          <a:xfrm>
            <a:off x="548640" y="4892040"/>
            <a:ext cx="11091672" cy="1188720"/>
          </a:xfrm>
          <a:prstGeom prst="roundRect">
            <a:avLst>
              <a:gd name="adj" fmla="val 8000"/>
            </a:avLst>
          </a:prstGeom>
          <a:solidFill>
            <a:srgbClr val="262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68680" y="5029200"/>
            <a:ext cx="10515600" cy="914400"/>
          </a:xfrm>
          <a:prstGeom prst="rect">
            <a:avLst/>
          </a:prstGeom>
          <a:noFill/>
        </p:spPr>
        <p:txBody>
          <a:bodyPr wrap="square" lIns="0" rIns="0" tIns="0" bIns="0" anchor="ctr">
            <a:spAutoFit/>
          </a:bodyPr>
          <a:lstStyle/>
          <a:p>
            <a:pPr algn="l"/>
            <a:r>
              <a:rPr sz="1600" b="1" i="0">
                <a:solidFill>
                  <a:srgbClr val="B38E5D"/>
                </a:solidFill>
                <a:latin typeface="Calibri"/>
              </a:rPr>
              <a:t>Why we're here: </a:t>
            </a:r>
            <a:r>
              <a:rPr sz="1600" b="0" i="0">
                <a:solidFill>
                  <a:srgbClr val="FFFFFF"/>
                </a:solidFill>
                <a:latin typeface="Calibri"/>
              </a:rPr>
              <a:t>you told us your guests expect to be known, your associates are juggling too many systems, and cost to serve keeps rising. In the next 10 minutes we'll show you what that looks like fixed, live.</a:t>
            </a:r>
          </a:p>
        </p:txBody>
      </p:sp>
      <p:sp>
        <p:nvSpPr>
          <p:cNvPr id="27" name="TextBox 26"/>
          <p:cNvSpPr txBox="1"/>
          <p:nvPr/>
        </p:nvSpPr>
        <p:spPr>
          <a:xfrm>
            <a:off x="548640" y="6400800"/>
            <a:ext cx="7315200" cy="228600"/>
          </a:xfrm>
          <a:prstGeom prst="rect">
            <a:avLst/>
          </a:prstGeom>
          <a:noFill/>
        </p:spPr>
        <p:txBody>
          <a:bodyPr wrap="square" lIns="0" rIns="0" tIns="0" bIns="0" anchor="t">
            <a:spAutoFit/>
          </a:bodyPr>
          <a:lstStyle/>
          <a:p>
            <a:pPr algn="l"/>
            <a:r>
              <a:rPr sz="900" b="0" i="0">
                <a:solidFill>
                  <a:srgbClr val="6B6B6B"/>
                </a:solidFill>
                <a:latin typeface="Calibri"/>
              </a:rPr>
              <a:t>Mock scenario for Salesforce SE onboarding · Not affiliated with Marriott International</a:t>
            </a:r>
          </a:p>
        </p:txBody>
      </p:sp>
      <p:sp>
        <p:nvSpPr>
          <p:cNvPr id="28" name="TextBox 27"/>
          <p:cNvSpPr txBox="1"/>
          <p:nvPr/>
        </p:nvSpPr>
        <p:spPr>
          <a:xfrm>
            <a:off x="11155680" y="6400800"/>
            <a:ext cx="502920" cy="228600"/>
          </a:xfrm>
          <a:prstGeom prst="rect">
            <a:avLst/>
          </a:prstGeom>
          <a:noFill/>
        </p:spPr>
        <p:txBody>
          <a:bodyPr wrap="square" lIns="0" rIns="0" tIns="0" bIns="0" anchor="t">
            <a:spAutoFit/>
          </a:bodyPr>
          <a:lstStyle/>
          <a:p>
            <a:pPr algn="r"/>
            <a:r>
              <a:rPr sz="900" b="0" i="0">
                <a:solidFill>
                  <a:srgbClr val="6B6B6B"/>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B41F3A"/>
        </a:solidFill>
        <a:effectLst/>
      </p:bgPr>
    </p:bg>
    <p:spTree>
      <p:nvGrpSpPr>
        <p:cNvPr id="1" name=""/>
        <p:cNvGrpSpPr/>
        <p:nvPr/>
      </p:nvGrpSpPr>
      <p:grpSpPr/>
      <p:sp>
        <p:nvSpPr>
          <p:cNvPr id="2" name="TextBox 1"/>
          <p:cNvSpPr txBox="1"/>
          <p:nvPr/>
        </p:nvSpPr>
        <p:spPr>
          <a:xfrm>
            <a:off x="548640" y="411480"/>
            <a:ext cx="5486400" cy="274320"/>
          </a:xfrm>
          <a:prstGeom prst="rect">
            <a:avLst/>
          </a:prstGeom>
          <a:noFill/>
        </p:spPr>
        <p:txBody>
          <a:bodyPr wrap="square" lIns="0" rIns="0" tIns="0" bIns="0" anchor="t">
            <a:spAutoFit/>
          </a:bodyPr>
          <a:lstStyle/>
          <a:p>
            <a:pPr algn="l"/>
            <a:r>
              <a:rPr sz="1100" b="1" i="0">
                <a:solidFill>
                  <a:srgbClr val="B38E5D"/>
                </a:solidFill>
                <a:latin typeface="Calibri"/>
              </a:rPr>
              <a:t>OPENING · ATTENTION GRABBER</a:t>
            </a:r>
          </a:p>
        </p:txBody>
      </p:sp>
      <p:sp>
        <p:nvSpPr>
          <p:cNvPr id="3" name="Rounded Rectangle 2"/>
          <p:cNvSpPr/>
          <p:nvPr/>
        </p:nvSpPr>
        <p:spPr>
          <a:xfrm>
            <a:off x="10378440" y="365760"/>
            <a:ext cx="1280160" cy="3840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B41F3A"/>
                </a:solidFill>
                <a:latin typeface="Calibri"/>
              </a:rPr>
              <a:t>0:30 – 1:15</a:t>
            </a:r>
          </a:p>
        </p:txBody>
      </p:sp>
      <p:sp>
        <p:nvSpPr>
          <p:cNvPr id="4" name="TextBox 3"/>
          <p:cNvSpPr txBox="1"/>
          <p:nvPr/>
        </p:nvSpPr>
        <p:spPr>
          <a:xfrm>
            <a:off x="548640" y="1188720"/>
            <a:ext cx="10972800" cy="2194560"/>
          </a:xfrm>
          <a:prstGeom prst="rect">
            <a:avLst/>
          </a:prstGeom>
          <a:noFill/>
        </p:spPr>
        <p:txBody>
          <a:bodyPr wrap="square" lIns="0" rIns="0" tIns="0" bIns="0" anchor="t">
            <a:spAutoFit/>
          </a:bodyPr>
          <a:lstStyle/>
          <a:p>
            <a:pPr algn="l"/>
            <a:r>
              <a:rPr sz="12000" b="1" i="0">
                <a:solidFill>
                  <a:srgbClr val="FFFFFF"/>
                </a:solidFill>
                <a:latin typeface="Cambria"/>
              </a:rPr>
              <a:t>10.5 million</a:t>
            </a:r>
          </a:p>
        </p:txBody>
      </p:sp>
      <p:sp>
        <p:nvSpPr>
          <p:cNvPr id="5" name="TextBox 4"/>
          <p:cNvSpPr txBox="1"/>
          <p:nvPr/>
        </p:nvSpPr>
        <p:spPr>
          <a:xfrm>
            <a:off x="548640" y="3246120"/>
            <a:ext cx="10515600" cy="914400"/>
          </a:xfrm>
          <a:prstGeom prst="rect">
            <a:avLst/>
          </a:prstGeom>
          <a:noFill/>
        </p:spPr>
        <p:txBody>
          <a:bodyPr wrap="square" lIns="0" rIns="0" tIns="0" bIns="0" anchor="t">
            <a:spAutoFit/>
          </a:bodyPr>
          <a:lstStyle/>
          <a:p>
            <a:pPr algn="l"/>
            <a:r>
              <a:rPr sz="2800" b="0" i="0">
                <a:solidFill>
                  <a:srgbClr val="FFFFFF"/>
                </a:solidFill>
                <a:latin typeface="Calibri"/>
              </a:rPr>
              <a:t>times a year, a Marriott guest asks the same question:</a:t>
            </a:r>
          </a:p>
        </p:txBody>
      </p:sp>
      <p:sp>
        <p:nvSpPr>
          <p:cNvPr id="6" name="TextBox 5"/>
          <p:cNvSpPr txBox="1"/>
          <p:nvPr/>
        </p:nvSpPr>
        <p:spPr>
          <a:xfrm>
            <a:off x="548640" y="3977639"/>
            <a:ext cx="10515600" cy="914400"/>
          </a:xfrm>
          <a:prstGeom prst="rect">
            <a:avLst/>
          </a:prstGeom>
          <a:noFill/>
        </p:spPr>
        <p:txBody>
          <a:bodyPr wrap="square" lIns="0" rIns="0" tIns="0" bIns="0" anchor="t">
            <a:spAutoFit/>
          </a:bodyPr>
          <a:lstStyle/>
          <a:p>
            <a:pPr algn="l"/>
            <a:r>
              <a:rPr sz="4400" b="1" i="1">
                <a:solidFill>
                  <a:srgbClr val="FFFFFF"/>
                </a:solidFill>
                <a:latin typeface="Cambria"/>
              </a:rPr>
              <a:t>“Where are my points?”</a:t>
            </a:r>
          </a:p>
        </p:txBody>
      </p:sp>
      <p:sp>
        <p:nvSpPr>
          <p:cNvPr id="7" name="Rounded Rectangle 6"/>
          <p:cNvSpPr/>
          <p:nvPr/>
        </p:nvSpPr>
        <p:spPr>
          <a:xfrm>
            <a:off x="548640" y="5257800"/>
            <a:ext cx="7498079" cy="777240"/>
          </a:xfrm>
          <a:prstGeom prst="roundRect">
            <a:avLst>
              <a:gd name="adj" fmla="val 8000"/>
            </a:avLst>
          </a:prstGeom>
          <a:solidFill>
            <a:srgbClr val="7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22960" y="5257800"/>
            <a:ext cx="7132320" cy="777240"/>
          </a:xfrm>
          <a:prstGeom prst="rect">
            <a:avLst/>
          </a:prstGeom>
          <a:noFill/>
        </p:spPr>
        <p:txBody>
          <a:bodyPr wrap="square" lIns="0" rIns="0" tIns="0" bIns="0" anchor="ctr">
            <a:spAutoFit/>
          </a:bodyPr>
          <a:lstStyle/>
          <a:p>
            <a:pPr algn="l"/>
            <a:r>
              <a:rPr sz="1500" b="0" i="0">
                <a:solidFill>
                  <a:srgbClr val="FFFFFF"/>
                </a:solidFill>
                <a:latin typeface="Calibri"/>
              </a:rPr>
              <a:t>35% of ~30M CEC cases are Missing Night Stays &amp; Points, filed by web form and worked by hand.</a:t>
            </a:r>
          </a:p>
        </p:txBody>
      </p:sp>
      <p:sp>
        <p:nvSpPr>
          <p:cNvPr id="9" name="TextBox 8"/>
          <p:cNvSpPr txBox="1"/>
          <p:nvPr/>
        </p:nvSpPr>
        <p:spPr>
          <a:xfrm>
            <a:off x="548640" y="6400800"/>
            <a:ext cx="7315200" cy="228600"/>
          </a:xfrm>
          <a:prstGeom prst="rect">
            <a:avLst/>
          </a:prstGeom>
          <a:noFill/>
        </p:spPr>
        <p:txBody>
          <a:bodyPr wrap="square" lIns="0" rIns="0" tIns="0" bIns="0" anchor="t">
            <a:spAutoFit/>
          </a:bodyPr>
          <a:lstStyle/>
          <a:p>
            <a:pPr algn="l"/>
            <a:r>
              <a:rPr sz="900" b="0" i="0">
                <a:solidFill>
                  <a:srgbClr val="D9CFD1"/>
                </a:solidFill>
                <a:latin typeface="Calibri"/>
              </a:rPr>
              <a:t>Mock scenario for Salesforce SE onboarding · Not affiliated with Marriott International</a:t>
            </a:r>
          </a:p>
        </p:txBody>
      </p:sp>
      <p:sp>
        <p:nvSpPr>
          <p:cNvPr id="10" name="TextBox 9"/>
          <p:cNvSpPr txBox="1"/>
          <p:nvPr/>
        </p:nvSpPr>
        <p:spPr>
          <a:xfrm>
            <a:off x="11155680" y="6400800"/>
            <a:ext cx="502920" cy="228600"/>
          </a:xfrm>
          <a:prstGeom prst="rect">
            <a:avLst/>
          </a:prstGeom>
          <a:noFill/>
        </p:spPr>
        <p:txBody>
          <a:bodyPr wrap="square" lIns="0" rIns="0" tIns="0" bIns="0" anchor="t">
            <a:spAutoFit/>
          </a:bodyPr>
          <a:lstStyle/>
          <a:p>
            <a:pPr algn="r"/>
            <a:r>
              <a:rPr sz="900" b="0" i="0">
                <a:solidFill>
                  <a:srgbClr val="D9CFD1"/>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5486400" cy="274320"/>
          </a:xfrm>
          <a:prstGeom prst="rect">
            <a:avLst/>
          </a:prstGeom>
          <a:noFill/>
        </p:spPr>
        <p:txBody>
          <a:bodyPr wrap="square" lIns="0" rIns="0" tIns="0" bIns="0" anchor="t">
            <a:spAutoFit/>
          </a:bodyPr>
          <a:lstStyle/>
          <a:p>
            <a:pPr algn="l"/>
            <a:r>
              <a:rPr sz="1100" b="1" i="0">
                <a:solidFill>
                  <a:srgbClr val="B38E5D"/>
                </a:solidFill>
                <a:latin typeface="Calibri"/>
              </a:rPr>
              <a:t>OPENING · SETTING THE SCENE</a:t>
            </a:r>
          </a:p>
        </p:txBody>
      </p:sp>
      <p:sp>
        <p:nvSpPr>
          <p:cNvPr id="3" name="Rounded Rectangle 2"/>
          <p:cNvSpPr/>
          <p:nvPr/>
        </p:nvSpPr>
        <p:spPr>
          <a:xfrm>
            <a:off x="10378440" y="365760"/>
            <a:ext cx="1280160" cy="384048"/>
          </a:xfrm>
          <a:prstGeom prst="roundRect">
            <a:avLst>
              <a:gd name="adj" fmla="val 8000"/>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latin typeface="Calibri"/>
              </a:rPr>
              <a:t>1:15 – 2:15</a:t>
            </a:r>
          </a:p>
        </p:txBody>
      </p:sp>
      <p:sp>
        <p:nvSpPr>
          <p:cNvPr id="4" name="TextBox 3"/>
          <p:cNvSpPr txBox="1"/>
          <p:nvPr/>
        </p:nvSpPr>
        <p:spPr>
          <a:xfrm>
            <a:off x="548640" y="731520"/>
            <a:ext cx="10058400" cy="822960"/>
          </a:xfrm>
          <a:prstGeom prst="rect">
            <a:avLst/>
          </a:prstGeom>
          <a:noFill/>
        </p:spPr>
        <p:txBody>
          <a:bodyPr wrap="square" lIns="0" rIns="0" tIns="0" bIns="0" anchor="t">
            <a:spAutoFit/>
          </a:bodyPr>
          <a:lstStyle/>
          <a:p>
            <a:pPr algn="l"/>
            <a:r>
              <a:rPr sz="3800" b="1" i="0">
                <a:solidFill>
                  <a:srgbClr val="1C1C1C"/>
                </a:solidFill>
                <a:latin typeface="Cambria"/>
              </a:rPr>
              <a:t>Three challenges we heard</a:t>
            </a:r>
          </a:p>
        </p:txBody>
      </p:sp>
      <p:sp>
        <p:nvSpPr>
          <p:cNvPr id="5" name="Rounded Rectangle 4"/>
          <p:cNvSpPr/>
          <p:nvPr/>
        </p:nvSpPr>
        <p:spPr>
          <a:xfrm>
            <a:off x="548640" y="1828800"/>
            <a:ext cx="3520440" cy="4114800"/>
          </a:xfrm>
          <a:prstGeom prst="roundRect">
            <a:avLst>
              <a:gd name="adj" fmla="val 8000"/>
            </a:avLst>
          </a:prstGeom>
          <a:solidFill>
            <a:srgbClr val="FB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68680" y="2148840"/>
            <a:ext cx="777240" cy="777240"/>
          </a:xfrm>
          <a:prstGeom prst="ellipse">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Cambria"/>
              </a:rPr>
              <a:t>1</a:t>
            </a:r>
          </a:p>
        </p:txBody>
      </p:sp>
      <p:sp>
        <p:nvSpPr>
          <p:cNvPr id="7" name="TextBox 6"/>
          <p:cNvSpPr txBox="1"/>
          <p:nvPr/>
        </p:nvSpPr>
        <p:spPr>
          <a:xfrm>
            <a:off x="868680" y="3154680"/>
            <a:ext cx="2926080" cy="822960"/>
          </a:xfrm>
          <a:prstGeom prst="rect">
            <a:avLst/>
          </a:prstGeom>
          <a:noFill/>
        </p:spPr>
        <p:txBody>
          <a:bodyPr wrap="square" lIns="0" rIns="0" tIns="0" bIns="0" anchor="t">
            <a:spAutoFit/>
          </a:bodyPr>
          <a:lstStyle/>
          <a:p>
            <a:pPr algn="l"/>
            <a:r>
              <a:rPr sz="2200" b="1" i="0">
                <a:solidFill>
                  <a:srgbClr val="1C1C1C"/>
                </a:solidFill>
                <a:latin typeface="Cambria"/>
              </a:rPr>
              <a:t>Associates swivel-chair</a:t>
            </a:r>
          </a:p>
        </p:txBody>
      </p:sp>
      <p:sp>
        <p:nvSpPr>
          <p:cNvPr id="8" name="TextBox 7"/>
          <p:cNvSpPr txBox="1"/>
          <p:nvPr/>
        </p:nvSpPr>
        <p:spPr>
          <a:xfrm>
            <a:off x="868680" y="3977639"/>
            <a:ext cx="2926080" cy="1463040"/>
          </a:xfrm>
          <a:prstGeom prst="rect">
            <a:avLst/>
          </a:prstGeom>
          <a:noFill/>
        </p:spPr>
        <p:txBody>
          <a:bodyPr wrap="square" lIns="0" rIns="0" tIns="0" bIns="0" anchor="t">
            <a:spAutoFit/>
          </a:bodyPr>
          <a:lstStyle/>
          <a:p>
            <a:pPr algn="l"/>
            <a:r>
              <a:rPr sz="1500" b="0" i="0">
                <a:solidFill>
                  <a:srgbClr val="1C1C1C"/>
                </a:solidFill>
                <a:latin typeface="Calibri"/>
              </a:rPr>
              <a:t>30+ brands, many systems, and no single view of the guest. Tom spends his time searching instead of serving.</a:t>
            </a:r>
          </a:p>
        </p:txBody>
      </p:sp>
      <p:sp>
        <p:nvSpPr>
          <p:cNvPr id="9" name="TextBox 8"/>
          <p:cNvSpPr txBox="1"/>
          <p:nvPr/>
        </p:nvSpPr>
        <p:spPr>
          <a:xfrm>
            <a:off x="868680" y="5440680"/>
            <a:ext cx="2926080" cy="320040"/>
          </a:xfrm>
          <a:prstGeom prst="rect">
            <a:avLst/>
          </a:prstGeom>
          <a:noFill/>
        </p:spPr>
        <p:txBody>
          <a:bodyPr wrap="square" lIns="0" rIns="0" tIns="0" bIns="0" anchor="t">
            <a:spAutoFit/>
          </a:bodyPr>
          <a:lstStyle/>
          <a:p>
            <a:pPr algn="l"/>
            <a:r>
              <a:rPr sz="1200" b="1" i="0">
                <a:solidFill>
                  <a:srgbClr val="B41F3A"/>
                </a:solidFill>
                <a:latin typeface="Calibri"/>
              </a:rPr>
              <a:t>Heard from: Tom &amp; Mateo</a:t>
            </a:r>
          </a:p>
        </p:txBody>
      </p:sp>
      <p:sp>
        <p:nvSpPr>
          <p:cNvPr id="10" name="Rounded Rectangle 9"/>
          <p:cNvSpPr/>
          <p:nvPr/>
        </p:nvSpPr>
        <p:spPr>
          <a:xfrm>
            <a:off x="4297679" y="1828800"/>
            <a:ext cx="3520440" cy="4114800"/>
          </a:xfrm>
          <a:prstGeom prst="roundRect">
            <a:avLst>
              <a:gd name="adj" fmla="val 8000"/>
            </a:avLst>
          </a:prstGeom>
          <a:solidFill>
            <a:srgbClr val="FB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617719" y="2148840"/>
            <a:ext cx="777240" cy="777240"/>
          </a:xfrm>
          <a:prstGeom prst="ellipse">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Cambria"/>
              </a:rPr>
              <a:t>2</a:t>
            </a:r>
          </a:p>
        </p:txBody>
      </p:sp>
      <p:sp>
        <p:nvSpPr>
          <p:cNvPr id="12" name="TextBox 11"/>
          <p:cNvSpPr txBox="1"/>
          <p:nvPr/>
        </p:nvSpPr>
        <p:spPr>
          <a:xfrm>
            <a:off x="4617719" y="3154680"/>
            <a:ext cx="2926080" cy="822960"/>
          </a:xfrm>
          <a:prstGeom prst="rect">
            <a:avLst/>
          </a:prstGeom>
          <a:noFill/>
        </p:spPr>
        <p:txBody>
          <a:bodyPr wrap="square" lIns="0" rIns="0" tIns="0" bIns="0" anchor="t">
            <a:spAutoFit/>
          </a:bodyPr>
          <a:lstStyle/>
          <a:p>
            <a:pPr algn="l"/>
            <a:r>
              <a:rPr sz="2200" b="1" i="0">
                <a:solidFill>
                  <a:srgbClr val="1C1C1C"/>
                </a:solidFill>
                <a:latin typeface="Cambria"/>
              </a:rPr>
              <a:t>Cost to serve keeps climbing</a:t>
            </a:r>
          </a:p>
        </p:txBody>
      </p:sp>
      <p:sp>
        <p:nvSpPr>
          <p:cNvPr id="13" name="TextBox 12"/>
          <p:cNvSpPr txBox="1"/>
          <p:nvPr/>
        </p:nvSpPr>
        <p:spPr>
          <a:xfrm>
            <a:off x="4617719" y="3977639"/>
            <a:ext cx="2926080" cy="1463040"/>
          </a:xfrm>
          <a:prstGeom prst="rect">
            <a:avLst/>
          </a:prstGeom>
          <a:noFill/>
        </p:spPr>
        <p:txBody>
          <a:bodyPr wrap="square" lIns="0" rIns="0" tIns="0" bIns="0" anchor="t">
            <a:spAutoFit/>
          </a:bodyPr>
          <a:lstStyle/>
          <a:p>
            <a:pPr algn="l"/>
            <a:r>
              <a:rPr sz="1500" b="0" i="0">
                <a:solidFill>
                  <a:srgbClr val="1C1C1C"/>
                </a:solidFill>
                <a:latin typeface="Calibri"/>
              </a:rPr>
              <a:t>Phone, web form and email are the only channels. Repetitive cases like missing stays drive up handle time and headcount.</a:t>
            </a:r>
          </a:p>
        </p:txBody>
      </p:sp>
      <p:sp>
        <p:nvSpPr>
          <p:cNvPr id="14" name="TextBox 13"/>
          <p:cNvSpPr txBox="1"/>
          <p:nvPr/>
        </p:nvSpPr>
        <p:spPr>
          <a:xfrm>
            <a:off x="4617719" y="5440680"/>
            <a:ext cx="2926080" cy="320040"/>
          </a:xfrm>
          <a:prstGeom prst="rect">
            <a:avLst/>
          </a:prstGeom>
          <a:noFill/>
        </p:spPr>
        <p:txBody>
          <a:bodyPr wrap="square" lIns="0" rIns="0" tIns="0" bIns="0" anchor="t">
            <a:spAutoFit/>
          </a:bodyPr>
          <a:lstStyle/>
          <a:p>
            <a:pPr algn="l"/>
            <a:r>
              <a:rPr sz="1200" b="1" i="0">
                <a:solidFill>
                  <a:srgbClr val="B41F3A"/>
                </a:solidFill>
                <a:latin typeface="Calibri"/>
              </a:rPr>
              <a:t>Heard from: Suki</a:t>
            </a:r>
          </a:p>
        </p:txBody>
      </p:sp>
      <p:sp>
        <p:nvSpPr>
          <p:cNvPr id="15" name="Rounded Rectangle 14"/>
          <p:cNvSpPr/>
          <p:nvPr/>
        </p:nvSpPr>
        <p:spPr>
          <a:xfrm>
            <a:off x="8046719" y="1828800"/>
            <a:ext cx="3520440" cy="4114800"/>
          </a:xfrm>
          <a:prstGeom prst="roundRect">
            <a:avLst>
              <a:gd name="adj" fmla="val 8000"/>
            </a:avLst>
          </a:prstGeom>
          <a:solidFill>
            <a:srgbClr val="FB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366759" y="2148840"/>
            <a:ext cx="777240" cy="777240"/>
          </a:xfrm>
          <a:prstGeom prst="ellipse">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Cambria"/>
              </a:rPr>
              <a:t>3</a:t>
            </a:r>
          </a:p>
        </p:txBody>
      </p:sp>
      <p:sp>
        <p:nvSpPr>
          <p:cNvPr id="17" name="TextBox 16"/>
          <p:cNvSpPr txBox="1"/>
          <p:nvPr/>
        </p:nvSpPr>
        <p:spPr>
          <a:xfrm>
            <a:off x="8366759" y="3154680"/>
            <a:ext cx="2926080" cy="822960"/>
          </a:xfrm>
          <a:prstGeom prst="rect">
            <a:avLst/>
          </a:prstGeom>
          <a:noFill/>
        </p:spPr>
        <p:txBody>
          <a:bodyPr wrap="square" lIns="0" rIns="0" tIns="0" bIns="0" anchor="t">
            <a:spAutoFit/>
          </a:bodyPr>
          <a:lstStyle/>
          <a:p>
            <a:pPr algn="l"/>
            <a:r>
              <a:rPr sz="2200" b="1" i="0">
                <a:solidFill>
                  <a:srgbClr val="1C1C1C"/>
                </a:solidFill>
                <a:latin typeface="Cambria"/>
              </a:rPr>
              <a:t>Loyalty is on the line</a:t>
            </a:r>
          </a:p>
        </p:txBody>
      </p:sp>
      <p:sp>
        <p:nvSpPr>
          <p:cNvPr id="18" name="TextBox 17"/>
          <p:cNvSpPr txBox="1"/>
          <p:nvPr/>
        </p:nvSpPr>
        <p:spPr>
          <a:xfrm>
            <a:off x="8366759" y="3977639"/>
            <a:ext cx="2926080" cy="1463040"/>
          </a:xfrm>
          <a:prstGeom prst="rect">
            <a:avLst/>
          </a:prstGeom>
          <a:noFill/>
        </p:spPr>
        <p:txBody>
          <a:bodyPr wrap="square" lIns="0" rIns="0" tIns="0" bIns="0" anchor="t">
            <a:spAutoFit/>
          </a:bodyPr>
          <a:lstStyle/>
          <a:p>
            <a:pPr algn="l"/>
            <a:r>
              <a:rPr sz="1500" b="0" i="0">
                <a:solidFill>
                  <a:srgbClr val="1C1C1C"/>
                </a:solidFill>
                <a:latin typeface="Calibri"/>
              </a:rPr>
              <a:t>CSAT is trending down while Airbnb and Vrbo compete for the same traveler. Slow answers erode Bonvoy loyalty.</a:t>
            </a:r>
          </a:p>
        </p:txBody>
      </p:sp>
      <p:sp>
        <p:nvSpPr>
          <p:cNvPr id="19" name="TextBox 18"/>
          <p:cNvSpPr txBox="1"/>
          <p:nvPr/>
        </p:nvSpPr>
        <p:spPr>
          <a:xfrm>
            <a:off x="8366759" y="5440680"/>
            <a:ext cx="2926080" cy="320040"/>
          </a:xfrm>
          <a:prstGeom prst="rect">
            <a:avLst/>
          </a:prstGeom>
          <a:noFill/>
        </p:spPr>
        <p:txBody>
          <a:bodyPr wrap="square" lIns="0" rIns="0" tIns="0" bIns="0" anchor="t">
            <a:spAutoFit/>
          </a:bodyPr>
          <a:lstStyle/>
          <a:p>
            <a:pPr algn="l"/>
            <a:r>
              <a:rPr sz="1200" b="1" i="0">
                <a:solidFill>
                  <a:srgbClr val="B41F3A"/>
                </a:solidFill>
                <a:latin typeface="Calibri"/>
              </a:rPr>
              <a:t>Heard from: Sofia</a:t>
            </a:r>
          </a:p>
        </p:txBody>
      </p:sp>
      <p:sp>
        <p:nvSpPr>
          <p:cNvPr id="20" name="TextBox 19"/>
          <p:cNvSpPr txBox="1"/>
          <p:nvPr/>
        </p:nvSpPr>
        <p:spPr>
          <a:xfrm>
            <a:off x="548640" y="6400800"/>
            <a:ext cx="7315200" cy="228600"/>
          </a:xfrm>
          <a:prstGeom prst="rect">
            <a:avLst/>
          </a:prstGeom>
          <a:noFill/>
        </p:spPr>
        <p:txBody>
          <a:bodyPr wrap="square" lIns="0" rIns="0" tIns="0" bIns="0" anchor="t">
            <a:spAutoFit/>
          </a:bodyPr>
          <a:lstStyle/>
          <a:p>
            <a:pPr algn="l"/>
            <a:r>
              <a:rPr sz="900" b="0" i="0">
                <a:solidFill>
                  <a:srgbClr val="6B6B6B"/>
                </a:solidFill>
                <a:latin typeface="Calibri"/>
              </a:rPr>
              <a:t>Mock scenario for Salesforce SE onboarding · Not affiliated with Marriott International</a:t>
            </a:r>
          </a:p>
        </p:txBody>
      </p:sp>
      <p:sp>
        <p:nvSpPr>
          <p:cNvPr id="21" name="TextBox 20"/>
          <p:cNvSpPr txBox="1"/>
          <p:nvPr/>
        </p:nvSpPr>
        <p:spPr>
          <a:xfrm>
            <a:off x="11155680" y="6400800"/>
            <a:ext cx="502920" cy="228600"/>
          </a:xfrm>
          <a:prstGeom prst="rect">
            <a:avLst/>
          </a:prstGeom>
          <a:noFill/>
        </p:spPr>
        <p:txBody>
          <a:bodyPr wrap="square" lIns="0" rIns="0" tIns="0" bIns="0" anchor="t">
            <a:spAutoFit/>
          </a:bodyPr>
          <a:lstStyle/>
          <a:p>
            <a:pPr algn="r"/>
            <a:r>
              <a:rPr sz="900" b="0" i="0">
                <a:solidFill>
                  <a:srgbClr val="6B6B6B"/>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5486400" cy="274320"/>
          </a:xfrm>
          <a:prstGeom prst="rect">
            <a:avLst/>
          </a:prstGeom>
          <a:noFill/>
        </p:spPr>
        <p:txBody>
          <a:bodyPr wrap="square" lIns="0" rIns="0" tIns="0" bIns="0" anchor="t">
            <a:spAutoFit/>
          </a:bodyPr>
          <a:lstStyle/>
          <a:p>
            <a:pPr algn="l"/>
            <a:r>
              <a:rPr sz="1100" b="1" i="0">
                <a:solidFill>
                  <a:srgbClr val="B38E5D"/>
                </a:solidFill>
                <a:latin typeface="Calibri"/>
              </a:rPr>
              <a:t>OPENING · SETTING THE SCENE</a:t>
            </a:r>
          </a:p>
        </p:txBody>
      </p:sp>
      <p:sp>
        <p:nvSpPr>
          <p:cNvPr id="3" name="Rounded Rectangle 2"/>
          <p:cNvSpPr/>
          <p:nvPr/>
        </p:nvSpPr>
        <p:spPr>
          <a:xfrm>
            <a:off x="10378440" y="365760"/>
            <a:ext cx="1280160" cy="384048"/>
          </a:xfrm>
          <a:prstGeom prst="roundRect">
            <a:avLst>
              <a:gd name="adj" fmla="val 8000"/>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latin typeface="Calibri"/>
              </a:rPr>
              <a:t>2:15 – 3:00</a:t>
            </a:r>
          </a:p>
        </p:txBody>
      </p:sp>
      <p:sp>
        <p:nvSpPr>
          <p:cNvPr id="4" name="TextBox 3"/>
          <p:cNvSpPr txBox="1"/>
          <p:nvPr/>
        </p:nvSpPr>
        <p:spPr>
          <a:xfrm>
            <a:off x="548640" y="731520"/>
            <a:ext cx="10058400" cy="822960"/>
          </a:xfrm>
          <a:prstGeom prst="rect">
            <a:avLst/>
          </a:prstGeom>
          <a:noFill/>
        </p:spPr>
        <p:txBody>
          <a:bodyPr wrap="square" lIns="0" rIns="0" tIns="0" bIns="0" anchor="t">
            <a:spAutoFit/>
          </a:bodyPr>
          <a:lstStyle/>
          <a:p>
            <a:pPr algn="l"/>
            <a:r>
              <a:rPr sz="3800" b="1" i="0">
                <a:solidFill>
                  <a:srgbClr val="1C1C1C"/>
                </a:solidFill>
                <a:latin typeface="Cambria"/>
              </a:rPr>
              <a:t>The cost of doing nothing</a:t>
            </a:r>
          </a:p>
        </p:txBody>
      </p:sp>
      <p:sp>
        <p:nvSpPr>
          <p:cNvPr id="5" name="TextBox 4"/>
          <p:cNvSpPr txBox="1"/>
          <p:nvPr/>
        </p:nvSpPr>
        <p:spPr>
          <a:xfrm>
            <a:off x="548640" y="1783080"/>
            <a:ext cx="5303520" cy="365760"/>
          </a:xfrm>
          <a:prstGeom prst="rect">
            <a:avLst/>
          </a:prstGeom>
          <a:noFill/>
        </p:spPr>
        <p:txBody>
          <a:bodyPr wrap="square" lIns="0" rIns="0" tIns="0" bIns="0" anchor="t">
            <a:spAutoFit/>
          </a:bodyPr>
          <a:lstStyle/>
          <a:p>
            <a:pPr algn="l"/>
            <a:r>
              <a:rPr sz="1600" b="1" i="0">
                <a:solidFill>
                  <a:srgbClr val="B41F3A"/>
                </a:solidFill>
                <a:latin typeface="Calibri"/>
              </a:rPr>
              <a:t>A missing-stay request today</a:t>
            </a:r>
          </a:p>
        </p:txBody>
      </p:sp>
      <p:sp>
        <p:nvSpPr>
          <p:cNvPr id="6" name="Oval 5"/>
          <p:cNvSpPr/>
          <p:nvPr/>
        </p:nvSpPr>
        <p:spPr>
          <a:xfrm>
            <a:off x="548640" y="2286000"/>
            <a:ext cx="457200" cy="457200"/>
          </a:xfrm>
          <a:prstGeom prst="ellipse">
            <a:avLst/>
          </a:prstGeom>
          <a:solidFill>
            <a:srgbClr val="2620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1</a:t>
            </a:r>
          </a:p>
        </p:txBody>
      </p:sp>
      <p:sp>
        <p:nvSpPr>
          <p:cNvPr id="7" name="TextBox 6"/>
          <p:cNvSpPr txBox="1"/>
          <p:nvPr/>
        </p:nvSpPr>
        <p:spPr>
          <a:xfrm>
            <a:off x="1188720" y="2286000"/>
            <a:ext cx="4572000" cy="457200"/>
          </a:xfrm>
          <a:prstGeom prst="rect">
            <a:avLst/>
          </a:prstGeom>
          <a:noFill/>
        </p:spPr>
        <p:txBody>
          <a:bodyPr wrap="square" lIns="0" rIns="0" tIns="0" bIns="0" anchor="ctr">
            <a:spAutoFit/>
          </a:bodyPr>
          <a:lstStyle/>
          <a:p>
            <a:pPr algn="l"/>
            <a:r>
              <a:rPr sz="1600" b="0" i="0">
                <a:solidFill>
                  <a:srgbClr val="1C1C1C"/>
                </a:solidFill>
                <a:latin typeface="Calibri"/>
              </a:rPr>
              <a:t>Guest fills out a web form</a:t>
            </a:r>
          </a:p>
        </p:txBody>
      </p:sp>
      <p:sp>
        <p:nvSpPr>
          <p:cNvPr id="8" name="Oval 7"/>
          <p:cNvSpPr/>
          <p:nvPr/>
        </p:nvSpPr>
        <p:spPr>
          <a:xfrm>
            <a:off x="548640" y="3017520"/>
            <a:ext cx="457200" cy="457200"/>
          </a:xfrm>
          <a:prstGeom prst="ellipse">
            <a:avLst/>
          </a:prstGeom>
          <a:solidFill>
            <a:srgbClr val="2620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2</a:t>
            </a:r>
          </a:p>
        </p:txBody>
      </p:sp>
      <p:sp>
        <p:nvSpPr>
          <p:cNvPr id="9" name="TextBox 8"/>
          <p:cNvSpPr txBox="1"/>
          <p:nvPr/>
        </p:nvSpPr>
        <p:spPr>
          <a:xfrm>
            <a:off x="1188720" y="3017520"/>
            <a:ext cx="4572000" cy="457200"/>
          </a:xfrm>
          <a:prstGeom prst="rect">
            <a:avLst/>
          </a:prstGeom>
          <a:noFill/>
        </p:spPr>
        <p:txBody>
          <a:bodyPr wrap="square" lIns="0" rIns="0" tIns="0" bIns="0" anchor="ctr">
            <a:spAutoFit/>
          </a:bodyPr>
          <a:lstStyle/>
          <a:p>
            <a:pPr algn="l"/>
            <a:r>
              <a:rPr sz="1600" b="0" i="0">
                <a:solidFill>
                  <a:srgbClr val="1C1C1C"/>
                </a:solidFill>
                <a:latin typeface="Calibri"/>
              </a:rPr>
              <a:t>Case lands in a queue for days</a:t>
            </a:r>
          </a:p>
        </p:txBody>
      </p:sp>
      <p:sp>
        <p:nvSpPr>
          <p:cNvPr id="10" name="Oval 9"/>
          <p:cNvSpPr/>
          <p:nvPr/>
        </p:nvSpPr>
        <p:spPr>
          <a:xfrm>
            <a:off x="548640" y="3749039"/>
            <a:ext cx="457200" cy="457200"/>
          </a:xfrm>
          <a:prstGeom prst="ellipse">
            <a:avLst/>
          </a:prstGeom>
          <a:solidFill>
            <a:srgbClr val="2620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3</a:t>
            </a:r>
          </a:p>
        </p:txBody>
      </p:sp>
      <p:sp>
        <p:nvSpPr>
          <p:cNvPr id="11" name="TextBox 10"/>
          <p:cNvSpPr txBox="1"/>
          <p:nvPr/>
        </p:nvSpPr>
        <p:spPr>
          <a:xfrm>
            <a:off x="1188720" y="3749039"/>
            <a:ext cx="4572000" cy="457200"/>
          </a:xfrm>
          <a:prstGeom prst="rect">
            <a:avLst/>
          </a:prstGeom>
          <a:noFill/>
        </p:spPr>
        <p:txBody>
          <a:bodyPr wrap="square" lIns="0" rIns="0" tIns="0" bIns="0" anchor="ctr">
            <a:spAutoFit/>
          </a:bodyPr>
          <a:lstStyle/>
          <a:p>
            <a:pPr algn="l"/>
            <a:r>
              <a:rPr sz="1600" b="0" i="0">
                <a:solidFill>
                  <a:srgbClr val="1C1C1C"/>
                </a:solidFill>
                <a:latin typeface="Calibri"/>
              </a:rPr>
              <a:t>Associate searches PMS, loyalty and email</a:t>
            </a:r>
          </a:p>
        </p:txBody>
      </p:sp>
      <p:sp>
        <p:nvSpPr>
          <p:cNvPr id="12" name="Oval 11"/>
          <p:cNvSpPr/>
          <p:nvPr/>
        </p:nvSpPr>
        <p:spPr>
          <a:xfrm>
            <a:off x="548640" y="4480560"/>
            <a:ext cx="457200" cy="457200"/>
          </a:xfrm>
          <a:prstGeom prst="ellipse">
            <a:avLst/>
          </a:prstGeom>
          <a:solidFill>
            <a:srgbClr val="2620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4</a:t>
            </a:r>
          </a:p>
        </p:txBody>
      </p:sp>
      <p:sp>
        <p:nvSpPr>
          <p:cNvPr id="13" name="TextBox 12"/>
          <p:cNvSpPr txBox="1"/>
          <p:nvPr/>
        </p:nvSpPr>
        <p:spPr>
          <a:xfrm>
            <a:off x="1188720" y="4480560"/>
            <a:ext cx="4572000" cy="457200"/>
          </a:xfrm>
          <a:prstGeom prst="rect">
            <a:avLst/>
          </a:prstGeom>
          <a:noFill/>
        </p:spPr>
        <p:txBody>
          <a:bodyPr wrap="square" lIns="0" rIns="0" tIns="0" bIns="0" anchor="ctr">
            <a:spAutoFit/>
          </a:bodyPr>
          <a:lstStyle/>
          <a:p>
            <a:pPr algn="l"/>
            <a:r>
              <a:rPr sz="1600" b="0" i="0">
                <a:solidFill>
                  <a:srgbClr val="1C1C1C"/>
                </a:solidFill>
                <a:latin typeface="Calibri"/>
              </a:rPr>
              <a:t>Points posted by hand, with an email reply</a:t>
            </a:r>
          </a:p>
        </p:txBody>
      </p:sp>
      <p:sp>
        <p:nvSpPr>
          <p:cNvPr id="14" name="Oval 13"/>
          <p:cNvSpPr/>
          <p:nvPr/>
        </p:nvSpPr>
        <p:spPr>
          <a:xfrm>
            <a:off x="548640" y="5212080"/>
            <a:ext cx="457200" cy="457200"/>
          </a:xfrm>
          <a:prstGeom prst="ellipse">
            <a:avLst/>
          </a:prstGeom>
          <a:solidFill>
            <a:srgbClr val="2620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5</a:t>
            </a:r>
          </a:p>
        </p:txBody>
      </p:sp>
      <p:sp>
        <p:nvSpPr>
          <p:cNvPr id="15" name="TextBox 14"/>
          <p:cNvSpPr txBox="1"/>
          <p:nvPr/>
        </p:nvSpPr>
        <p:spPr>
          <a:xfrm>
            <a:off x="1188720" y="5212080"/>
            <a:ext cx="4572000" cy="457200"/>
          </a:xfrm>
          <a:prstGeom prst="rect">
            <a:avLst/>
          </a:prstGeom>
          <a:noFill/>
        </p:spPr>
        <p:txBody>
          <a:bodyPr wrap="square" lIns="0" rIns="0" tIns="0" bIns="0" anchor="ctr">
            <a:spAutoFit/>
          </a:bodyPr>
          <a:lstStyle/>
          <a:p>
            <a:pPr algn="l"/>
            <a:r>
              <a:rPr sz="1600" b="0" i="0">
                <a:solidFill>
                  <a:srgbClr val="1C1C1C"/>
                </a:solidFill>
                <a:latin typeface="Calibri"/>
              </a:rPr>
              <a:t>Guest waits 5–7 business days</a:t>
            </a:r>
          </a:p>
        </p:txBody>
      </p:sp>
      <p:sp>
        <p:nvSpPr>
          <p:cNvPr id="16" name="Rounded Rectangle 15"/>
          <p:cNvSpPr/>
          <p:nvPr/>
        </p:nvSpPr>
        <p:spPr>
          <a:xfrm>
            <a:off x="6492240" y="1783080"/>
            <a:ext cx="5148072" cy="1234440"/>
          </a:xfrm>
          <a:prstGeom prst="roundRect">
            <a:avLst>
              <a:gd name="adj" fmla="val 8000"/>
            </a:avLst>
          </a:prstGeom>
          <a:solidFill>
            <a:srgbClr val="262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12280" y="1892807"/>
            <a:ext cx="2377440" cy="1005840"/>
          </a:xfrm>
          <a:prstGeom prst="rect">
            <a:avLst/>
          </a:prstGeom>
          <a:noFill/>
        </p:spPr>
        <p:txBody>
          <a:bodyPr wrap="square" lIns="0" rIns="0" tIns="0" bIns="0" anchor="ctr">
            <a:spAutoFit/>
          </a:bodyPr>
          <a:lstStyle/>
          <a:p>
            <a:pPr algn="l"/>
            <a:r>
              <a:rPr sz="3400" b="1" i="0">
                <a:solidFill>
                  <a:srgbClr val="FFFFFF"/>
                </a:solidFill>
                <a:latin typeface="Cambria"/>
              </a:rPr>
              <a:t>~10.5M</a:t>
            </a:r>
          </a:p>
        </p:txBody>
      </p:sp>
      <p:sp>
        <p:nvSpPr>
          <p:cNvPr id="18" name="TextBox 17"/>
          <p:cNvSpPr txBox="1"/>
          <p:nvPr/>
        </p:nvSpPr>
        <p:spPr>
          <a:xfrm>
            <a:off x="9144000" y="1892807"/>
            <a:ext cx="2331720" cy="1005840"/>
          </a:xfrm>
          <a:prstGeom prst="rect">
            <a:avLst/>
          </a:prstGeom>
          <a:noFill/>
        </p:spPr>
        <p:txBody>
          <a:bodyPr wrap="square" lIns="0" rIns="0" tIns="0" bIns="0" anchor="ctr">
            <a:spAutoFit/>
          </a:bodyPr>
          <a:lstStyle/>
          <a:p>
            <a:pPr algn="l"/>
            <a:r>
              <a:rPr sz="1400" b="0" i="0">
                <a:solidFill>
                  <a:srgbClr val="FFFFFF"/>
                </a:solidFill>
                <a:latin typeface="Calibri"/>
              </a:rPr>
              <a:t>manual missing-stay cases every year</a:t>
            </a:r>
          </a:p>
        </p:txBody>
      </p:sp>
      <p:sp>
        <p:nvSpPr>
          <p:cNvPr id="19" name="Rounded Rectangle 18"/>
          <p:cNvSpPr/>
          <p:nvPr/>
        </p:nvSpPr>
        <p:spPr>
          <a:xfrm>
            <a:off x="6492240" y="3246120"/>
            <a:ext cx="5148072" cy="1234440"/>
          </a:xfrm>
          <a:prstGeom prst="roundRect">
            <a:avLst>
              <a:gd name="adj" fmla="val 8000"/>
            </a:avLst>
          </a:prstGeom>
          <a:solidFill>
            <a:srgbClr val="FB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12280" y="3355848"/>
            <a:ext cx="2377440" cy="1005840"/>
          </a:xfrm>
          <a:prstGeom prst="rect">
            <a:avLst/>
          </a:prstGeom>
          <a:noFill/>
        </p:spPr>
        <p:txBody>
          <a:bodyPr wrap="square" lIns="0" rIns="0" tIns="0" bIns="0" anchor="ctr">
            <a:spAutoFit/>
          </a:bodyPr>
          <a:lstStyle/>
          <a:p>
            <a:pPr algn="l"/>
            <a:r>
              <a:rPr sz="3400" b="1" i="0">
                <a:solidFill>
                  <a:srgbClr val="B41F3A"/>
                </a:solidFill>
                <a:latin typeface="Cambria"/>
              </a:rPr>
              <a:t>5–7 days</a:t>
            </a:r>
          </a:p>
        </p:txBody>
      </p:sp>
      <p:sp>
        <p:nvSpPr>
          <p:cNvPr id="21" name="TextBox 20"/>
          <p:cNvSpPr txBox="1"/>
          <p:nvPr/>
        </p:nvSpPr>
        <p:spPr>
          <a:xfrm>
            <a:off x="9144000" y="3355848"/>
            <a:ext cx="2331720" cy="1005840"/>
          </a:xfrm>
          <a:prstGeom prst="rect">
            <a:avLst/>
          </a:prstGeom>
          <a:noFill/>
        </p:spPr>
        <p:txBody>
          <a:bodyPr wrap="square" lIns="0" rIns="0" tIns="0" bIns="0" anchor="ctr">
            <a:spAutoFit/>
          </a:bodyPr>
          <a:lstStyle/>
          <a:p>
            <a:pPr algn="l"/>
            <a:r>
              <a:rPr sz="1400" b="0" i="0">
                <a:solidFill>
                  <a:srgbClr val="1C1C1C"/>
                </a:solidFill>
                <a:latin typeface="Calibri"/>
              </a:rPr>
              <a:t>for a guest to see their points</a:t>
            </a:r>
          </a:p>
        </p:txBody>
      </p:sp>
      <p:sp>
        <p:nvSpPr>
          <p:cNvPr id="22" name="Rounded Rectangle 21"/>
          <p:cNvSpPr/>
          <p:nvPr/>
        </p:nvSpPr>
        <p:spPr>
          <a:xfrm>
            <a:off x="6492240" y="4709160"/>
            <a:ext cx="5148072" cy="1234440"/>
          </a:xfrm>
          <a:prstGeom prst="roundRect">
            <a:avLst>
              <a:gd name="adj" fmla="val 8000"/>
            </a:avLst>
          </a:prstGeom>
          <a:solidFill>
            <a:srgbClr val="FB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812280" y="4818888"/>
            <a:ext cx="2377440" cy="1005840"/>
          </a:xfrm>
          <a:prstGeom prst="rect">
            <a:avLst/>
          </a:prstGeom>
          <a:noFill/>
        </p:spPr>
        <p:txBody>
          <a:bodyPr wrap="square" lIns="0" rIns="0" tIns="0" bIns="0" anchor="ctr">
            <a:spAutoFit/>
          </a:bodyPr>
          <a:lstStyle/>
          <a:p>
            <a:pPr algn="l"/>
            <a:r>
              <a:rPr sz="3400" b="1" i="0">
                <a:solidFill>
                  <a:srgbClr val="B41F3A"/>
                </a:solidFill>
                <a:latin typeface="Cambria"/>
              </a:rPr>
              <a:t>CSAT</a:t>
            </a:r>
          </a:p>
        </p:txBody>
      </p:sp>
      <p:sp>
        <p:nvSpPr>
          <p:cNvPr id="24" name="TextBox 23"/>
          <p:cNvSpPr txBox="1"/>
          <p:nvPr/>
        </p:nvSpPr>
        <p:spPr>
          <a:xfrm>
            <a:off x="9144000" y="4818888"/>
            <a:ext cx="2331720" cy="1005840"/>
          </a:xfrm>
          <a:prstGeom prst="rect">
            <a:avLst/>
          </a:prstGeom>
          <a:noFill/>
        </p:spPr>
        <p:txBody>
          <a:bodyPr wrap="square" lIns="0" rIns="0" tIns="0" bIns="0" anchor="ctr">
            <a:spAutoFit/>
          </a:bodyPr>
          <a:lstStyle/>
          <a:p>
            <a:pPr algn="l"/>
            <a:r>
              <a:rPr sz="1400" b="0" i="0">
                <a:solidFill>
                  <a:srgbClr val="1C1C1C"/>
                </a:solidFill>
                <a:latin typeface="Calibri"/>
              </a:rPr>
              <a:t>trending down across several brands</a:t>
            </a:r>
          </a:p>
        </p:txBody>
      </p:sp>
      <p:sp>
        <p:nvSpPr>
          <p:cNvPr id="25" name="TextBox 24"/>
          <p:cNvSpPr txBox="1"/>
          <p:nvPr/>
        </p:nvSpPr>
        <p:spPr>
          <a:xfrm>
            <a:off x="548640" y="6400800"/>
            <a:ext cx="7315200" cy="228600"/>
          </a:xfrm>
          <a:prstGeom prst="rect">
            <a:avLst/>
          </a:prstGeom>
          <a:noFill/>
        </p:spPr>
        <p:txBody>
          <a:bodyPr wrap="square" lIns="0" rIns="0" tIns="0" bIns="0" anchor="t">
            <a:spAutoFit/>
          </a:bodyPr>
          <a:lstStyle/>
          <a:p>
            <a:pPr algn="l"/>
            <a:r>
              <a:rPr sz="900" b="0" i="0">
                <a:solidFill>
                  <a:srgbClr val="6B6B6B"/>
                </a:solidFill>
                <a:latin typeface="Calibri"/>
              </a:rPr>
              <a:t>Mock scenario for Salesforce SE onboarding · Not affiliated with Marriott International</a:t>
            </a:r>
          </a:p>
        </p:txBody>
      </p:sp>
      <p:sp>
        <p:nvSpPr>
          <p:cNvPr id="26" name="TextBox 25"/>
          <p:cNvSpPr txBox="1"/>
          <p:nvPr/>
        </p:nvSpPr>
        <p:spPr>
          <a:xfrm>
            <a:off x="11155680" y="6400800"/>
            <a:ext cx="502920" cy="228600"/>
          </a:xfrm>
          <a:prstGeom prst="rect">
            <a:avLst/>
          </a:prstGeom>
          <a:noFill/>
        </p:spPr>
        <p:txBody>
          <a:bodyPr wrap="square" lIns="0" rIns="0" tIns="0" bIns="0" anchor="t">
            <a:spAutoFit/>
          </a:bodyPr>
          <a:lstStyle/>
          <a:p>
            <a:pPr algn="r"/>
            <a:r>
              <a:rPr sz="900" b="0" i="0">
                <a:solidFill>
                  <a:srgbClr val="6B6B6B"/>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62022"/>
        </a:solidFill>
        <a:effectLst/>
      </p:bgPr>
    </p:bg>
    <p:spTree>
      <p:nvGrpSpPr>
        <p:cNvPr id="1" name=""/>
        <p:cNvGrpSpPr/>
        <p:nvPr/>
      </p:nvGrpSpPr>
      <p:grpSpPr/>
      <p:sp>
        <p:nvSpPr>
          <p:cNvPr id="2" name="TextBox 1"/>
          <p:cNvSpPr txBox="1"/>
          <p:nvPr/>
        </p:nvSpPr>
        <p:spPr>
          <a:xfrm>
            <a:off x="548640" y="411480"/>
            <a:ext cx="5486400" cy="274320"/>
          </a:xfrm>
          <a:prstGeom prst="rect">
            <a:avLst/>
          </a:prstGeom>
          <a:noFill/>
        </p:spPr>
        <p:txBody>
          <a:bodyPr wrap="square" lIns="0" rIns="0" tIns="0" bIns="0" anchor="t">
            <a:spAutoFit/>
          </a:bodyPr>
          <a:lstStyle/>
          <a:p>
            <a:pPr algn="l"/>
            <a:r>
              <a:rPr sz="1100" b="1" i="0">
                <a:solidFill>
                  <a:srgbClr val="B38E5D"/>
                </a:solidFill>
                <a:latin typeface="Calibri"/>
              </a:rPr>
              <a:t>STORY-BASED DEMO · LIVE</a:t>
            </a:r>
          </a:p>
        </p:txBody>
      </p:sp>
      <p:sp>
        <p:nvSpPr>
          <p:cNvPr id="3" name="Rounded Rectangle 2"/>
          <p:cNvSpPr/>
          <p:nvPr/>
        </p:nvSpPr>
        <p:spPr>
          <a:xfrm>
            <a:off x="10378440" y="365760"/>
            <a:ext cx="1280160" cy="3840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B41F3A"/>
                </a:solidFill>
                <a:latin typeface="Calibri"/>
              </a:rPr>
              <a:t>3:00 – 9:00</a:t>
            </a:r>
          </a:p>
        </p:txBody>
      </p:sp>
      <p:sp>
        <p:nvSpPr>
          <p:cNvPr id="4" name="TextBox 3"/>
          <p:cNvSpPr txBox="1"/>
          <p:nvPr/>
        </p:nvSpPr>
        <p:spPr>
          <a:xfrm>
            <a:off x="548640" y="731520"/>
            <a:ext cx="10058400" cy="822960"/>
          </a:xfrm>
          <a:prstGeom prst="rect">
            <a:avLst/>
          </a:prstGeom>
          <a:noFill/>
        </p:spPr>
        <p:txBody>
          <a:bodyPr wrap="square" lIns="0" rIns="0" tIns="0" bIns="0" anchor="t">
            <a:spAutoFit/>
          </a:bodyPr>
          <a:lstStyle/>
          <a:p>
            <a:pPr algn="l"/>
            <a:r>
              <a:rPr sz="3800" b="1" i="0">
                <a:solidFill>
                  <a:srgbClr val="FFFFFF"/>
                </a:solidFill>
                <a:latin typeface="Cambria"/>
              </a:rPr>
              <a:t>One guest. Three chapters.</a:t>
            </a:r>
          </a:p>
        </p:txBody>
      </p:sp>
      <p:sp>
        <p:nvSpPr>
          <p:cNvPr id="5" name="Rounded Rectangle 4"/>
          <p:cNvSpPr/>
          <p:nvPr/>
        </p:nvSpPr>
        <p:spPr>
          <a:xfrm>
            <a:off x="548640" y="1828800"/>
            <a:ext cx="3520440" cy="4160520"/>
          </a:xfrm>
          <a:prstGeom prst="roundRect">
            <a:avLst>
              <a:gd name="adj" fmla="val 8000"/>
            </a:avLst>
          </a:prstGeom>
          <a:solidFill>
            <a:srgbClr val="362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68680" y="2103120"/>
            <a:ext cx="731520" cy="731520"/>
          </a:xfrm>
          <a:prstGeom prst="ellipse">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mbria"/>
              </a:rPr>
              <a:t>1</a:t>
            </a:r>
          </a:p>
        </p:txBody>
      </p:sp>
      <p:sp>
        <p:nvSpPr>
          <p:cNvPr id="7" name="TextBox 6"/>
          <p:cNvSpPr txBox="1"/>
          <p:nvPr/>
        </p:nvSpPr>
        <p:spPr>
          <a:xfrm>
            <a:off x="1783080" y="2103120"/>
            <a:ext cx="2103120" cy="731520"/>
          </a:xfrm>
          <a:prstGeom prst="rect">
            <a:avLst/>
          </a:prstGeom>
          <a:noFill/>
        </p:spPr>
        <p:txBody>
          <a:bodyPr wrap="square" lIns="0" rIns="0" tIns="0" bIns="0" anchor="ctr">
            <a:spAutoFit/>
          </a:bodyPr>
          <a:lstStyle/>
          <a:p>
            <a:pPr algn="l"/>
            <a:r>
              <a:rPr sz="1300" b="0" i="0">
                <a:solidFill>
                  <a:srgbClr val="D9CFD1"/>
                </a:solidFill>
                <a:latin typeface="Calibri"/>
              </a:rPr>
              <a:t>~2 min</a:t>
            </a:r>
          </a:p>
        </p:txBody>
      </p:sp>
      <p:sp>
        <p:nvSpPr>
          <p:cNvPr id="8" name="TextBox 7"/>
          <p:cNvSpPr txBox="1"/>
          <p:nvPr/>
        </p:nvSpPr>
        <p:spPr>
          <a:xfrm>
            <a:off x="868680" y="3017520"/>
            <a:ext cx="2926080" cy="822960"/>
          </a:xfrm>
          <a:prstGeom prst="rect">
            <a:avLst/>
          </a:prstGeom>
          <a:noFill/>
        </p:spPr>
        <p:txBody>
          <a:bodyPr wrap="square" lIns="0" rIns="0" tIns="0" bIns="0" anchor="t">
            <a:spAutoFit/>
          </a:bodyPr>
          <a:lstStyle/>
          <a:p>
            <a:pPr algn="l"/>
            <a:r>
              <a:rPr sz="2100" b="1" i="0">
                <a:solidFill>
                  <a:srgbClr val="FFFFFF"/>
                </a:solidFill>
                <a:latin typeface="Cambria"/>
              </a:rPr>
              <a:t>The guest helps herself</a:t>
            </a:r>
          </a:p>
        </p:txBody>
      </p:sp>
      <p:sp>
        <p:nvSpPr>
          <p:cNvPr id="9" name="TextBox 8"/>
          <p:cNvSpPr txBox="1"/>
          <p:nvPr/>
        </p:nvSpPr>
        <p:spPr>
          <a:xfrm>
            <a:off x="868680" y="3794760"/>
            <a:ext cx="2926080" cy="320040"/>
          </a:xfrm>
          <a:prstGeom prst="rect">
            <a:avLst/>
          </a:prstGeom>
          <a:noFill/>
        </p:spPr>
        <p:txBody>
          <a:bodyPr wrap="square" lIns="0" rIns="0" tIns="0" bIns="0" anchor="t">
            <a:spAutoFit/>
          </a:bodyPr>
          <a:lstStyle/>
          <a:p>
            <a:pPr algn="l"/>
            <a:r>
              <a:rPr sz="1300" b="1" i="0">
                <a:solidFill>
                  <a:srgbClr val="B38E5D"/>
                </a:solidFill>
                <a:latin typeface="Calibri"/>
              </a:rPr>
              <a:t>Lauren, Platinum Elite</a:t>
            </a:r>
          </a:p>
        </p:txBody>
      </p:sp>
      <p:sp>
        <p:nvSpPr>
          <p:cNvPr id="10" name="TextBox 9"/>
          <p:cNvSpPr txBox="1"/>
          <p:nvPr/>
        </p:nvSpPr>
        <p:spPr>
          <a:xfrm>
            <a:off x="868680" y="4160520"/>
            <a:ext cx="2926080" cy="1188720"/>
          </a:xfrm>
          <a:prstGeom prst="rect">
            <a:avLst/>
          </a:prstGeom>
          <a:noFill/>
        </p:spPr>
        <p:txBody>
          <a:bodyPr wrap="square" lIns="0" rIns="0" tIns="0" bIns="0" anchor="t">
            <a:spAutoFit/>
          </a:bodyPr>
          <a:lstStyle/>
          <a:p>
            <a:pPr algn="l"/>
            <a:r>
              <a:rPr sz="1400" b="0" i="0">
                <a:solidFill>
                  <a:srgbClr val="D9CFD1"/>
                </a:solidFill>
                <a:latin typeface="Calibri"/>
              </a:rPr>
              <a:t>Bonvoy Assistant (Agentforce) finds the Austin stay and credits 3 nights and 8,450 points in under a minute.</a:t>
            </a:r>
          </a:p>
        </p:txBody>
      </p:sp>
      <p:sp>
        <p:nvSpPr>
          <p:cNvPr id="11" name="TextBox 10"/>
          <p:cNvSpPr txBox="1"/>
          <p:nvPr/>
        </p:nvSpPr>
        <p:spPr>
          <a:xfrm>
            <a:off x="868680" y="5440680"/>
            <a:ext cx="2926080" cy="365760"/>
          </a:xfrm>
          <a:prstGeom prst="rect">
            <a:avLst/>
          </a:prstGeom>
          <a:noFill/>
        </p:spPr>
        <p:txBody>
          <a:bodyPr wrap="square" lIns="0" rIns="0" tIns="0" bIns="0" anchor="t">
            <a:spAutoFit/>
          </a:bodyPr>
          <a:lstStyle/>
          <a:p>
            <a:pPr algn="l"/>
            <a:r>
              <a:rPr sz="1400" b="1" i="0">
                <a:solidFill>
                  <a:srgbClr val="FFFFFF"/>
                </a:solidFill>
                <a:latin typeface="Calibri"/>
              </a:rPr>
              <a:t>→ Resolve instantly, 24/7</a:t>
            </a:r>
          </a:p>
        </p:txBody>
      </p:sp>
      <p:sp>
        <p:nvSpPr>
          <p:cNvPr id="12" name="Rounded Rectangle 11"/>
          <p:cNvSpPr/>
          <p:nvPr/>
        </p:nvSpPr>
        <p:spPr>
          <a:xfrm>
            <a:off x="4297679" y="1828800"/>
            <a:ext cx="3520440" cy="4160520"/>
          </a:xfrm>
          <a:prstGeom prst="roundRect">
            <a:avLst>
              <a:gd name="adj" fmla="val 8000"/>
            </a:avLst>
          </a:prstGeom>
          <a:solidFill>
            <a:srgbClr val="362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617719" y="2103120"/>
            <a:ext cx="731520" cy="731520"/>
          </a:xfrm>
          <a:prstGeom prst="ellipse">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mbria"/>
              </a:rPr>
              <a:t>2</a:t>
            </a:r>
          </a:p>
        </p:txBody>
      </p:sp>
      <p:sp>
        <p:nvSpPr>
          <p:cNvPr id="14" name="TextBox 13"/>
          <p:cNvSpPr txBox="1"/>
          <p:nvPr/>
        </p:nvSpPr>
        <p:spPr>
          <a:xfrm>
            <a:off x="5532119" y="2103120"/>
            <a:ext cx="2103120" cy="731520"/>
          </a:xfrm>
          <a:prstGeom prst="rect">
            <a:avLst/>
          </a:prstGeom>
          <a:noFill/>
        </p:spPr>
        <p:txBody>
          <a:bodyPr wrap="square" lIns="0" rIns="0" tIns="0" bIns="0" anchor="ctr">
            <a:spAutoFit/>
          </a:bodyPr>
          <a:lstStyle/>
          <a:p>
            <a:pPr algn="l"/>
            <a:r>
              <a:rPr sz="1300" b="0" i="0">
                <a:solidFill>
                  <a:srgbClr val="D9CFD1"/>
                </a:solidFill>
                <a:latin typeface="Calibri"/>
              </a:rPr>
              <a:t>~2 min</a:t>
            </a:r>
          </a:p>
        </p:txBody>
      </p:sp>
      <p:sp>
        <p:nvSpPr>
          <p:cNvPr id="15" name="TextBox 14"/>
          <p:cNvSpPr txBox="1"/>
          <p:nvPr/>
        </p:nvSpPr>
        <p:spPr>
          <a:xfrm>
            <a:off x="4617719" y="3017520"/>
            <a:ext cx="2926080" cy="822960"/>
          </a:xfrm>
          <a:prstGeom prst="rect">
            <a:avLst/>
          </a:prstGeom>
          <a:noFill/>
        </p:spPr>
        <p:txBody>
          <a:bodyPr wrap="square" lIns="0" rIns="0" tIns="0" bIns="0" anchor="t">
            <a:spAutoFit/>
          </a:bodyPr>
          <a:lstStyle/>
          <a:p>
            <a:pPr algn="l"/>
            <a:r>
              <a:rPr sz="2100" b="1" i="0">
                <a:solidFill>
                  <a:srgbClr val="FFFFFF"/>
                </a:solidFill>
                <a:latin typeface="Cambria"/>
              </a:rPr>
              <a:t>The associate has the whole story</a:t>
            </a:r>
          </a:p>
        </p:txBody>
      </p:sp>
      <p:sp>
        <p:nvSpPr>
          <p:cNvPr id="16" name="TextBox 15"/>
          <p:cNvSpPr txBox="1"/>
          <p:nvPr/>
        </p:nvSpPr>
        <p:spPr>
          <a:xfrm>
            <a:off x="4617719" y="3794760"/>
            <a:ext cx="2926080" cy="320040"/>
          </a:xfrm>
          <a:prstGeom prst="rect">
            <a:avLst/>
          </a:prstGeom>
          <a:noFill/>
        </p:spPr>
        <p:txBody>
          <a:bodyPr wrap="square" lIns="0" rIns="0" tIns="0" bIns="0" anchor="t">
            <a:spAutoFit/>
          </a:bodyPr>
          <a:lstStyle/>
          <a:p>
            <a:pPr algn="l"/>
            <a:r>
              <a:rPr sz="1300" b="1" i="0">
                <a:solidFill>
                  <a:srgbClr val="B38E5D"/>
                </a:solidFill>
                <a:latin typeface="Calibri"/>
              </a:rPr>
              <a:t>Tom, CEC Associate</a:t>
            </a:r>
          </a:p>
        </p:txBody>
      </p:sp>
      <p:sp>
        <p:nvSpPr>
          <p:cNvPr id="17" name="TextBox 16"/>
          <p:cNvSpPr txBox="1"/>
          <p:nvPr/>
        </p:nvSpPr>
        <p:spPr>
          <a:xfrm>
            <a:off x="4617719" y="4160520"/>
            <a:ext cx="2926080" cy="1188720"/>
          </a:xfrm>
          <a:prstGeom prst="rect">
            <a:avLst/>
          </a:prstGeom>
          <a:noFill/>
        </p:spPr>
        <p:txBody>
          <a:bodyPr wrap="square" lIns="0" rIns="0" tIns="0" bIns="0" anchor="t">
            <a:spAutoFit/>
          </a:bodyPr>
          <a:lstStyle/>
          <a:p>
            <a:pPr algn="l"/>
            <a:r>
              <a:rPr sz="1400" b="0" i="0">
                <a:solidFill>
                  <a:srgbClr val="D9CFD1"/>
                </a:solidFill>
                <a:latin typeface="Calibri"/>
              </a:rPr>
              <a:t>A Kyoto stay needs the hotel. Agentforce hands off with a summary and Guest 360, and drafts Tom's reply.</a:t>
            </a:r>
          </a:p>
        </p:txBody>
      </p:sp>
      <p:sp>
        <p:nvSpPr>
          <p:cNvPr id="18" name="TextBox 17"/>
          <p:cNvSpPr txBox="1"/>
          <p:nvPr/>
        </p:nvSpPr>
        <p:spPr>
          <a:xfrm>
            <a:off x="4617719" y="5440680"/>
            <a:ext cx="2926080" cy="365760"/>
          </a:xfrm>
          <a:prstGeom prst="rect">
            <a:avLst/>
          </a:prstGeom>
          <a:noFill/>
        </p:spPr>
        <p:txBody>
          <a:bodyPr wrap="square" lIns="0" rIns="0" tIns="0" bIns="0" anchor="t">
            <a:spAutoFit/>
          </a:bodyPr>
          <a:lstStyle/>
          <a:p>
            <a:pPr algn="l"/>
            <a:r>
              <a:rPr sz="1400" b="1" i="0">
                <a:solidFill>
                  <a:srgbClr val="FFFFFF"/>
                </a:solidFill>
                <a:latin typeface="Calibri"/>
              </a:rPr>
              <a:t>→ One view of the guest</a:t>
            </a:r>
          </a:p>
        </p:txBody>
      </p:sp>
      <p:sp>
        <p:nvSpPr>
          <p:cNvPr id="19" name="Rounded Rectangle 18"/>
          <p:cNvSpPr/>
          <p:nvPr/>
        </p:nvSpPr>
        <p:spPr>
          <a:xfrm>
            <a:off x="8046719" y="1828800"/>
            <a:ext cx="3520440" cy="4160520"/>
          </a:xfrm>
          <a:prstGeom prst="roundRect">
            <a:avLst>
              <a:gd name="adj" fmla="val 8000"/>
            </a:avLst>
          </a:prstGeom>
          <a:solidFill>
            <a:srgbClr val="362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366759" y="2103120"/>
            <a:ext cx="731520" cy="731520"/>
          </a:xfrm>
          <a:prstGeom prst="ellipse">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mbria"/>
              </a:rPr>
              <a:t>3</a:t>
            </a:r>
          </a:p>
        </p:txBody>
      </p:sp>
      <p:sp>
        <p:nvSpPr>
          <p:cNvPr id="21" name="TextBox 20"/>
          <p:cNvSpPr txBox="1"/>
          <p:nvPr/>
        </p:nvSpPr>
        <p:spPr>
          <a:xfrm>
            <a:off x="9281159" y="2103120"/>
            <a:ext cx="2103120" cy="731520"/>
          </a:xfrm>
          <a:prstGeom prst="rect">
            <a:avLst/>
          </a:prstGeom>
          <a:noFill/>
        </p:spPr>
        <p:txBody>
          <a:bodyPr wrap="square" lIns="0" rIns="0" tIns="0" bIns="0" anchor="ctr">
            <a:spAutoFit/>
          </a:bodyPr>
          <a:lstStyle/>
          <a:p>
            <a:pPr algn="l"/>
            <a:r>
              <a:rPr sz="1300" b="0" i="0">
                <a:solidFill>
                  <a:srgbClr val="D9CFD1"/>
                </a:solidFill>
                <a:latin typeface="Calibri"/>
              </a:rPr>
              <a:t>~2 min</a:t>
            </a:r>
          </a:p>
        </p:txBody>
      </p:sp>
      <p:sp>
        <p:nvSpPr>
          <p:cNvPr id="22" name="TextBox 21"/>
          <p:cNvSpPr txBox="1"/>
          <p:nvPr/>
        </p:nvSpPr>
        <p:spPr>
          <a:xfrm>
            <a:off x="8366759" y="3017520"/>
            <a:ext cx="2926080" cy="822960"/>
          </a:xfrm>
          <a:prstGeom prst="rect">
            <a:avLst/>
          </a:prstGeom>
          <a:noFill/>
        </p:spPr>
        <p:txBody>
          <a:bodyPr wrap="square" lIns="0" rIns="0" tIns="0" bIns="0" anchor="t">
            <a:spAutoFit/>
          </a:bodyPr>
          <a:lstStyle/>
          <a:p>
            <a:pPr algn="l"/>
            <a:r>
              <a:rPr sz="2100" b="1" i="0">
                <a:solidFill>
                  <a:srgbClr val="FFFFFF"/>
                </a:solidFill>
                <a:latin typeface="Cambria"/>
              </a:rPr>
              <a:t>Leaders get control and speed</a:t>
            </a:r>
          </a:p>
        </p:txBody>
      </p:sp>
      <p:sp>
        <p:nvSpPr>
          <p:cNvPr id="23" name="TextBox 22"/>
          <p:cNvSpPr txBox="1"/>
          <p:nvPr/>
        </p:nvSpPr>
        <p:spPr>
          <a:xfrm>
            <a:off x="8366759" y="3794760"/>
            <a:ext cx="2926080" cy="320040"/>
          </a:xfrm>
          <a:prstGeom prst="rect">
            <a:avLst/>
          </a:prstGeom>
          <a:noFill/>
        </p:spPr>
        <p:txBody>
          <a:bodyPr wrap="square" lIns="0" rIns="0" tIns="0" bIns="0" anchor="t">
            <a:spAutoFit/>
          </a:bodyPr>
          <a:lstStyle/>
          <a:p>
            <a:pPr algn="l"/>
            <a:r>
              <a:rPr sz="1300" b="1" i="0">
                <a:solidFill>
                  <a:srgbClr val="B38E5D"/>
                </a:solidFill>
                <a:latin typeface="Calibri"/>
              </a:rPr>
              <a:t>Suki, Mateo &amp; Jess</a:t>
            </a:r>
          </a:p>
        </p:txBody>
      </p:sp>
      <p:sp>
        <p:nvSpPr>
          <p:cNvPr id="24" name="TextBox 23"/>
          <p:cNvSpPr txBox="1"/>
          <p:nvPr/>
        </p:nvSpPr>
        <p:spPr>
          <a:xfrm>
            <a:off x="8366759" y="4160520"/>
            <a:ext cx="2926080" cy="1188720"/>
          </a:xfrm>
          <a:prstGeom prst="rect">
            <a:avLst/>
          </a:prstGeom>
          <a:noFill/>
        </p:spPr>
        <p:txBody>
          <a:bodyPr wrap="square" lIns="0" rIns="0" tIns="0" bIns="0" anchor="t">
            <a:spAutoFit/>
          </a:bodyPr>
          <a:lstStyle/>
          <a:p>
            <a:pPr algn="l"/>
            <a:r>
              <a:rPr sz="1400" b="0" i="0">
                <a:solidFill>
                  <a:srgbClr val="D9CFD1"/>
                </a:solidFill>
                <a:latin typeface="Calibri"/>
              </a:rPr>
              <a:t>Plain-English agent builder, trusted guardrails, and live metrics on resolution, handle time and CSAT.</a:t>
            </a:r>
          </a:p>
        </p:txBody>
      </p:sp>
      <p:sp>
        <p:nvSpPr>
          <p:cNvPr id="25" name="TextBox 24"/>
          <p:cNvSpPr txBox="1"/>
          <p:nvPr/>
        </p:nvSpPr>
        <p:spPr>
          <a:xfrm>
            <a:off x="8366759" y="5440680"/>
            <a:ext cx="2926080" cy="365760"/>
          </a:xfrm>
          <a:prstGeom prst="rect">
            <a:avLst/>
          </a:prstGeom>
          <a:noFill/>
        </p:spPr>
        <p:txBody>
          <a:bodyPr wrap="square" lIns="0" rIns="0" tIns="0" bIns="0" anchor="t">
            <a:spAutoFit/>
          </a:bodyPr>
          <a:lstStyle/>
          <a:p>
            <a:pPr algn="l"/>
            <a:r>
              <a:rPr sz="1400" b="1" i="0">
                <a:solidFill>
                  <a:srgbClr val="FFFFFF"/>
                </a:solidFill>
                <a:latin typeface="Calibri"/>
              </a:rPr>
              <a:t>→ Built for scale, fast</a:t>
            </a:r>
          </a:p>
        </p:txBody>
      </p:sp>
      <p:sp>
        <p:nvSpPr>
          <p:cNvPr id="26" name="TextBox 25"/>
          <p:cNvSpPr txBox="1"/>
          <p:nvPr/>
        </p:nvSpPr>
        <p:spPr>
          <a:xfrm>
            <a:off x="548640" y="6400800"/>
            <a:ext cx="7315200" cy="228600"/>
          </a:xfrm>
          <a:prstGeom prst="rect">
            <a:avLst/>
          </a:prstGeom>
          <a:noFill/>
        </p:spPr>
        <p:txBody>
          <a:bodyPr wrap="square" lIns="0" rIns="0" tIns="0" bIns="0" anchor="t">
            <a:spAutoFit/>
          </a:bodyPr>
          <a:lstStyle/>
          <a:p>
            <a:pPr algn="l"/>
            <a:r>
              <a:rPr sz="900" b="0" i="0">
                <a:solidFill>
                  <a:srgbClr val="D9CFD1"/>
                </a:solidFill>
                <a:latin typeface="Calibri"/>
              </a:rPr>
              <a:t>Mock scenario for Salesforce SE onboarding · Not affiliated with Marriott International</a:t>
            </a:r>
          </a:p>
        </p:txBody>
      </p:sp>
      <p:sp>
        <p:nvSpPr>
          <p:cNvPr id="27" name="TextBox 26"/>
          <p:cNvSpPr txBox="1"/>
          <p:nvPr/>
        </p:nvSpPr>
        <p:spPr>
          <a:xfrm>
            <a:off x="11155680" y="6400800"/>
            <a:ext cx="502920" cy="228600"/>
          </a:xfrm>
          <a:prstGeom prst="rect">
            <a:avLst/>
          </a:prstGeom>
          <a:noFill/>
        </p:spPr>
        <p:txBody>
          <a:bodyPr wrap="square" lIns="0" rIns="0" tIns="0" bIns="0" anchor="t">
            <a:spAutoFit/>
          </a:bodyPr>
          <a:lstStyle/>
          <a:p>
            <a:pPr algn="r"/>
            <a:r>
              <a:rPr sz="900" b="0" i="0">
                <a:solidFill>
                  <a:srgbClr val="D9CFD1"/>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5486400" cy="274320"/>
          </a:xfrm>
          <a:prstGeom prst="rect">
            <a:avLst/>
          </a:prstGeom>
          <a:noFill/>
        </p:spPr>
        <p:txBody>
          <a:bodyPr wrap="square" lIns="0" rIns="0" tIns="0" bIns="0" anchor="t">
            <a:spAutoFit/>
          </a:bodyPr>
          <a:lstStyle/>
          <a:p>
            <a:pPr algn="l"/>
            <a:r>
              <a:rPr sz="1100" b="1" i="0">
                <a:solidFill>
                  <a:srgbClr val="B38E5D"/>
                </a:solidFill>
                <a:latin typeface="Calibri"/>
              </a:rPr>
              <a:t>CLOSE · VALUE SUMMARY</a:t>
            </a:r>
          </a:p>
        </p:txBody>
      </p:sp>
      <p:sp>
        <p:nvSpPr>
          <p:cNvPr id="3" name="Rounded Rectangle 2"/>
          <p:cNvSpPr/>
          <p:nvPr/>
        </p:nvSpPr>
        <p:spPr>
          <a:xfrm>
            <a:off x="10378440" y="365760"/>
            <a:ext cx="1280160" cy="384048"/>
          </a:xfrm>
          <a:prstGeom prst="roundRect">
            <a:avLst>
              <a:gd name="adj" fmla="val 8000"/>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latin typeface="Calibri"/>
              </a:rPr>
              <a:t>9:00 – 9:25</a:t>
            </a:r>
          </a:p>
        </p:txBody>
      </p:sp>
      <p:sp>
        <p:nvSpPr>
          <p:cNvPr id="4" name="TextBox 3"/>
          <p:cNvSpPr txBox="1"/>
          <p:nvPr/>
        </p:nvSpPr>
        <p:spPr>
          <a:xfrm>
            <a:off x="548640" y="731520"/>
            <a:ext cx="10058400" cy="822960"/>
          </a:xfrm>
          <a:prstGeom prst="rect">
            <a:avLst/>
          </a:prstGeom>
          <a:noFill/>
        </p:spPr>
        <p:txBody>
          <a:bodyPr wrap="square" lIns="0" rIns="0" tIns="0" bIns="0" anchor="t">
            <a:spAutoFit/>
          </a:bodyPr>
          <a:lstStyle/>
          <a:p>
            <a:pPr algn="l"/>
            <a:r>
              <a:rPr sz="3800" b="1" i="0">
                <a:solidFill>
                  <a:srgbClr val="1C1C1C"/>
                </a:solidFill>
                <a:latin typeface="Cambria"/>
              </a:rPr>
              <a:t>What this means for Marriott</a:t>
            </a:r>
          </a:p>
        </p:txBody>
      </p:sp>
      <p:sp>
        <p:nvSpPr>
          <p:cNvPr id="5" name="Oval 4"/>
          <p:cNvSpPr/>
          <p:nvPr/>
        </p:nvSpPr>
        <p:spPr>
          <a:xfrm>
            <a:off x="548640" y="1828800"/>
            <a:ext cx="640080" cy="640080"/>
          </a:xfrm>
          <a:prstGeom prst="ellipse">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1</a:t>
            </a:r>
          </a:p>
        </p:txBody>
      </p:sp>
      <p:sp>
        <p:nvSpPr>
          <p:cNvPr id="6" name="TextBox 5"/>
          <p:cNvSpPr txBox="1"/>
          <p:nvPr/>
        </p:nvSpPr>
        <p:spPr>
          <a:xfrm>
            <a:off x="1417320" y="1810512"/>
            <a:ext cx="4480560" cy="411480"/>
          </a:xfrm>
          <a:prstGeom prst="rect">
            <a:avLst/>
          </a:prstGeom>
          <a:noFill/>
        </p:spPr>
        <p:txBody>
          <a:bodyPr wrap="square" lIns="0" rIns="0" tIns="0" bIns="0" anchor="t">
            <a:spAutoFit/>
          </a:bodyPr>
          <a:lstStyle/>
          <a:p>
            <a:pPr algn="l"/>
            <a:r>
              <a:rPr sz="2000" b="1" i="0">
                <a:solidFill>
                  <a:srgbClr val="1C1C1C"/>
                </a:solidFill>
                <a:latin typeface="Cambria"/>
              </a:rPr>
              <a:t>Resolve instantly, 24/7</a:t>
            </a:r>
          </a:p>
        </p:txBody>
      </p:sp>
      <p:sp>
        <p:nvSpPr>
          <p:cNvPr id="7" name="TextBox 6"/>
          <p:cNvSpPr txBox="1"/>
          <p:nvPr/>
        </p:nvSpPr>
        <p:spPr>
          <a:xfrm>
            <a:off x="1417320" y="2240280"/>
            <a:ext cx="4480560" cy="731520"/>
          </a:xfrm>
          <a:prstGeom prst="rect">
            <a:avLst/>
          </a:prstGeom>
          <a:noFill/>
        </p:spPr>
        <p:txBody>
          <a:bodyPr wrap="square" lIns="0" rIns="0" tIns="0" bIns="0" anchor="t">
            <a:spAutoFit/>
          </a:bodyPr>
          <a:lstStyle/>
          <a:p>
            <a:pPr algn="l"/>
            <a:r>
              <a:rPr sz="1400" b="0" i="0">
                <a:solidFill>
                  <a:srgbClr val="6B6B6B"/>
                </a:solidFill>
                <a:latin typeface="Calibri"/>
              </a:rPr>
              <a:t>The #1 request is handled end to end with no form, no queue and no wait.</a:t>
            </a:r>
          </a:p>
        </p:txBody>
      </p:sp>
      <p:sp>
        <p:nvSpPr>
          <p:cNvPr id="8" name="Oval 7"/>
          <p:cNvSpPr/>
          <p:nvPr/>
        </p:nvSpPr>
        <p:spPr>
          <a:xfrm>
            <a:off x="548640" y="3200400"/>
            <a:ext cx="640080" cy="640080"/>
          </a:xfrm>
          <a:prstGeom prst="ellipse">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2</a:t>
            </a:r>
          </a:p>
        </p:txBody>
      </p:sp>
      <p:sp>
        <p:nvSpPr>
          <p:cNvPr id="9" name="TextBox 8"/>
          <p:cNvSpPr txBox="1"/>
          <p:nvPr/>
        </p:nvSpPr>
        <p:spPr>
          <a:xfrm>
            <a:off x="1417320" y="3182112"/>
            <a:ext cx="4480560" cy="411480"/>
          </a:xfrm>
          <a:prstGeom prst="rect">
            <a:avLst/>
          </a:prstGeom>
          <a:noFill/>
        </p:spPr>
        <p:txBody>
          <a:bodyPr wrap="square" lIns="0" rIns="0" tIns="0" bIns="0" anchor="t">
            <a:spAutoFit/>
          </a:bodyPr>
          <a:lstStyle/>
          <a:p>
            <a:pPr algn="l"/>
            <a:r>
              <a:rPr sz="2000" b="1" i="0">
                <a:solidFill>
                  <a:srgbClr val="1C1C1C"/>
                </a:solidFill>
                <a:latin typeface="Cambria"/>
              </a:rPr>
              <a:t>One view of the guest</a:t>
            </a:r>
          </a:p>
        </p:txBody>
      </p:sp>
      <p:sp>
        <p:nvSpPr>
          <p:cNvPr id="10" name="TextBox 9"/>
          <p:cNvSpPr txBox="1"/>
          <p:nvPr/>
        </p:nvSpPr>
        <p:spPr>
          <a:xfrm>
            <a:off x="1417320" y="3611880"/>
            <a:ext cx="4480560" cy="731520"/>
          </a:xfrm>
          <a:prstGeom prst="rect">
            <a:avLst/>
          </a:prstGeom>
          <a:noFill/>
        </p:spPr>
        <p:txBody>
          <a:bodyPr wrap="square" lIns="0" rIns="0" tIns="0" bIns="0" anchor="t">
            <a:spAutoFit/>
          </a:bodyPr>
          <a:lstStyle/>
          <a:p>
            <a:pPr algn="l"/>
            <a:r>
              <a:rPr sz="1400" b="0" i="0">
                <a:solidFill>
                  <a:srgbClr val="6B6B6B"/>
                </a:solidFill>
                <a:latin typeface="Calibri"/>
              </a:rPr>
              <a:t>Every handoff carries the full story, so associates serve instead of searching.</a:t>
            </a:r>
          </a:p>
        </p:txBody>
      </p:sp>
      <p:sp>
        <p:nvSpPr>
          <p:cNvPr id="11" name="Oval 10"/>
          <p:cNvSpPr/>
          <p:nvPr/>
        </p:nvSpPr>
        <p:spPr>
          <a:xfrm>
            <a:off x="548640" y="4572000"/>
            <a:ext cx="640080" cy="640080"/>
          </a:xfrm>
          <a:prstGeom prst="ellipse">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3</a:t>
            </a:r>
          </a:p>
        </p:txBody>
      </p:sp>
      <p:sp>
        <p:nvSpPr>
          <p:cNvPr id="12" name="TextBox 11"/>
          <p:cNvSpPr txBox="1"/>
          <p:nvPr/>
        </p:nvSpPr>
        <p:spPr>
          <a:xfrm>
            <a:off x="1417320" y="4553712"/>
            <a:ext cx="4480560" cy="411480"/>
          </a:xfrm>
          <a:prstGeom prst="rect">
            <a:avLst/>
          </a:prstGeom>
          <a:noFill/>
        </p:spPr>
        <p:txBody>
          <a:bodyPr wrap="square" lIns="0" rIns="0" tIns="0" bIns="0" anchor="t">
            <a:spAutoFit/>
          </a:bodyPr>
          <a:lstStyle/>
          <a:p>
            <a:pPr algn="l"/>
            <a:r>
              <a:rPr sz="2000" b="1" i="0">
                <a:solidFill>
                  <a:srgbClr val="1C1C1C"/>
                </a:solidFill>
                <a:latin typeface="Cambria"/>
              </a:rPr>
              <a:t>Built for scale, fast</a:t>
            </a:r>
          </a:p>
        </p:txBody>
      </p:sp>
      <p:sp>
        <p:nvSpPr>
          <p:cNvPr id="13" name="TextBox 12"/>
          <p:cNvSpPr txBox="1"/>
          <p:nvPr/>
        </p:nvSpPr>
        <p:spPr>
          <a:xfrm>
            <a:off x="1417320" y="4983480"/>
            <a:ext cx="4480560" cy="731520"/>
          </a:xfrm>
          <a:prstGeom prst="rect">
            <a:avLst/>
          </a:prstGeom>
          <a:noFill/>
        </p:spPr>
        <p:txBody>
          <a:bodyPr wrap="square" lIns="0" rIns="0" tIns="0" bIns="0" anchor="t">
            <a:spAutoFit/>
          </a:bodyPr>
          <a:lstStyle/>
          <a:p>
            <a:pPr algn="l"/>
            <a:r>
              <a:rPr sz="1400" b="0" i="0">
                <a:solidFill>
                  <a:srgbClr val="6B6B6B"/>
                </a:solidFill>
                <a:latin typeface="Calibri"/>
              </a:rPr>
              <a:t>Low-code, trusted, and connected to the systems Marriott already runs.</a:t>
            </a:r>
          </a:p>
        </p:txBody>
      </p:sp>
      <p:graphicFrame>
        <p:nvGraphicFramePr>
          <p:cNvPr id="14" name="Chart 13"/>
          <p:cNvGraphicFramePr>
            <a:graphicFrameLocks noGrp="1"/>
          </p:cNvGraphicFramePr>
          <p:nvPr/>
        </p:nvGraphicFramePr>
        <p:xfrm>
          <a:off x="6309360" y="1691640"/>
          <a:ext cx="5303520" cy="3931920"/>
        </p:xfrm>
        <a:graphic>
          <a:graphicData uri="http://schemas.openxmlformats.org/drawingml/2006/chart">
            <c:chart xmlns:c="http://schemas.openxmlformats.org/drawingml/2006/chart" r:id="rId2"/>
          </a:graphicData>
        </a:graphic>
      </p:graphicFrame>
      <p:sp>
        <p:nvSpPr>
          <p:cNvPr id="15" name="TextBox 14"/>
          <p:cNvSpPr txBox="1"/>
          <p:nvPr/>
        </p:nvSpPr>
        <p:spPr>
          <a:xfrm>
            <a:off x="6309360" y="5669280"/>
            <a:ext cx="5303520" cy="548640"/>
          </a:xfrm>
          <a:prstGeom prst="rect">
            <a:avLst/>
          </a:prstGeom>
          <a:noFill/>
        </p:spPr>
        <p:txBody>
          <a:bodyPr wrap="square" lIns="0" rIns="0" tIns="0" bIns="0" anchor="t">
            <a:spAutoFit/>
          </a:bodyPr>
          <a:lstStyle/>
          <a:p>
            <a:pPr algn="l"/>
            <a:r>
              <a:rPr sz="1100" b="0" i="1">
                <a:solidFill>
                  <a:srgbClr val="6B6B6B"/>
                </a:solidFill>
                <a:latin typeface="Calibri"/>
              </a:rPr>
              <a:t>Illustrative: 60% agent resolution → ~6.3M cases/yr that never reach an associate. At a $5–6 assisted-contact cost, that is ~$30–38M/yr in capacity. Validate with Marriott.</a:t>
            </a:r>
          </a:p>
        </p:txBody>
      </p:sp>
      <p:sp>
        <p:nvSpPr>
          <p:cNvPr id="16" name="TextBox 15"/>
          <p:cNvSpPr txBox="1"/>
          <p:nvPr/>
        </p:nvSpPr>
        <p:spPr>
          <a:xfrm>
            <a:off x="548640" y="6400800"/>
            <a:ext cx="7315200" cy="228600"/>
          </a:xfrm>
          <a:prstGeom prst="rect">
            <a:avLst/>
          </a:prstGeom>
          <a:noFill/>
        </p:spPr>
        <p:txBody>
          <a:bodyPr wrap="square" lIns="0" rIns="0" tIns="0" bIns="0" anchor="t">
            <a:spAutoFit/>
          </a:bodyPr>
          <a:lstStyle/>
          <a:p>
            <a:pPr algn="l"/>
            <a:r>
              <a:rPr sz="900" b="0" i="0">
                <a:solidFill>
                  <a:srgbClr val="6B6B6B"/>
                </a:solidFill>
                <a:latin typeface="Calibri"/>
              </a:rPr>
              <a:t>Mock scenario for Salesforce SE onboarding · Not affiliated with Marriott International</a:t>
            </a:r>
          </a:p>
        </p:txBody>
      </p:sp>
      <p:sp>
        <p:nvSpPr>
          <p:cNvPr id="17" name="TextBox 16"/>
          <p:cNvSpPr txBox="1"/>
          <p:nvPr/>
        </p:nvSpPr>
        <p:spPr>
          <a:xfrm>
            <a:off x="11155680" y="6400800"/>
            <a:ext cx="502920" cy="228600"/>
          </a:xfrm>
          <a:prstGeom prst="rect">
            <a:avLst/>
          </a:prstGeom>
          <a:noFill/>
        </p:spPr>
        <p:txBody>
          <a:bodyPr wrap="square" lIns="0" rIns="0" tIns="0" bIns="0" anchor="t">
            <a:spAutoFit/>
          </a:bodyPr>
          <a:lstStyle/>
          <a:p>
            <a:pPr algn="r"/>
            <a:r>
              <a:rPr sz="900" b="0" i="0">
                <a:solidFill>
                  <a:srgbClr val="6B6B6B"/>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1F3"/>
        </a:solidFill>
        <a:effectLst/>
      </p:bgPr>
    </p:bg>
    <p:spTree>
      <p:nvGrpSpPr>
        <p:cNvPr id="1" name=""/>
        <p:cNvGrpSpPr/>
        <p:nvPr/>
      </p:nvGrpSpPr>
      <p:grpSpPr/>
      <p:sp>
        <p:nvSpPr>
          <p:cNvPr id="2" name="TextBox 1"/>
          <p:cNvSpPr txBox="1"/>
          <p:nvPr/>
        </p:nvSpPr>
        <p:spPr>
          <a:xfrm>
            <a:off x="548640" y="411480"/>
            <a:ext cx="5486400" cy="274320"/>
          </a:xfrm>
          <a:prstGeom prst="rect">
            <a:avLst/>
          </a:prstGeom>
          <a:noFill/>
        </p:spPr>
        <p:txBody>
          <a:bodyPr wrap="square" lIns="0" rIns="0" tIns="0" bIns="0" anchor="t">
            <a:spAutoFit/>
          </a:bodyPr>
          <a:lstStyle/>
          <a:p>
            <a:pPr algn="l"/>
            <a:r>
              <a:rPr sz="1100" b="1" i="0">
                <a:solidFill>
                  <a:srgbClr val="B38E5D"/>
                </a:solidFill>
                <a:latin typeface="Calibri"/>
              </a:rPr>
              <a:t>CLOSE · EVIDENCE</a:t>
            </a:r>
          </a:p>
        </p:txBody>
      </p:sp>
      <p:sp>
        <p:nvSpPr>
          <p:cNvPr id="3" name="Rounded Rectangle 2"/>
          <p:cNvSpPr/>
          <p:nvPr/>
        </p:nvSpPr>
        <p:spPr>
          <a:xfrm>
            <a:off x="10378440" y="365760"/>
            <a:ext cx="1280160" cy="384048"/>
          </a:xfrm>
          <a:prstGeom prst="roundRect">
            <a:avLst>
              <a:gd name="adj" fmla="val 8000"/>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latin typeface="Calibri"/>
              </a:rPr>
              <a:t>9:25 – 9:45</a:t>
            </a:r>
          </a:p>
        </p:txBody>
      </p:sp>
      <p:sp>
        <p:nvSpPr>
          <p:cNvPr id="4" name="TextBox 3"/>
          <p:cNvSpPr txBox="1"/>
          <p:nvPr/>
        </p:nvSpPr>
        <p:spPr>
          <a:xfrm>
            <a:off x="548640" y="731520"/>
            <a:ext cx="10058400" cy="822960"/>
          </a:xfrm>
          <a:prstGeom prst="rect">
            <a:avLst/>
          </a:prstGeom>
          <a:noFill/>
        </p:spPr>
        <p:txBody>
          <a:bodyPr wrap="square" lIns="0" rIns="0" tIns="0" bIns="0" anchor="t">
            <a:spAutoFit/>
          </a:bodyPr>
          <a:lstStyle/>
          <a:p>
            <a:pPr algn="l"/>
            <a:r>
              <a:rPr sz="3800" b="1" i="0">
                <a:solidFill>
                  <a:srgbClr val="1C1C1C"/>
                </a:solidFill>
                <a:latin typeface="Cambria"/>
              </a:rPr>
              <a:t>Travel brands are already doing this</a:t>
            </a:r>
          </a:p>
        </p:txBody>
      </p:sp>
      <p:sp>
        <p:nvSpPr>
          <p:cNvPr id="5" name="Rounded Rectangle 4"/>
          <p:cNvSpPr/>
          <p:nvPr/>
        </p:nvSpPr>
        <p:spPr>
          <a:xfrm>
            <a:off x="548640" y="1828800"/>
            <a:ext cx="6675120" cy="4206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103120"/>
            <a:ext cx="6035040" cy="365760"/>
          </a:xfrm>
          <a:prstGeom prst="rect">
            <a:avLst/>
          </a:prstGeom>
          <a:noFill/>
        </p:spPr>
        <p:txBody>
          <a:bodyPr wrap="square" lIns="0" rIns="0" tIns="0" bIns="0" anchor="t">
            <a:spAutoFit/>
          </a:bodyPr>
          <a:lstStyle/>
          <a:p>
            <a:pPr algn="l"/>
            <a:r>
              <a:rPr sz="1400" b="1" i="0">
                <a:solidFill>
                  <a:srgbClr val="B41F3A"/>
                </a:solidFill>
                <a:latin typeface="Calibri"/>
              </a:rPr>
              <a:t>[CUSTOMER LOGO / NAME]</a:t>
            </a:r>
          </a:p>
        </p:txBody>
      </p:sp>
      <p:sp>
        <p:nvSpPr>
          <p:cNvPr id="7" name="TextBox 6"/>
          <p:cNvSpPr txBox="1"/>
          <p:nvPr/>
        </p:nvSpPr>
        <p:spPr>
          <a:xfrm>
            <a:off x="914400" y="2606040"/>
            <a:ext cx="6035040" cy="1828800"/>
          </a:xfrm>
          <a:prstGeom prst="rect">
            <a:avLst/>
          </a:prstGeom>
          <a:noFill/>
        </p:spPr>
        <p:txBody>
          <a:bodyPr wrap="square" lIns="0" rIns="0" tIns="0" bIns="0" anchor="t">
            <a:spAutoFit/>
          </a:bodyPr>
          <a:lstStyle/>
          <a:p>
            <a:pPr algn="l"/>
            <a:r>
              <a:rPr sz="2200" b="0" i="1">
                <a:solidFill>
                  <a:srgbClr val="1C1C1C"/>
                </a:solidFill>
                <a:latin typeface="Cambria"/>
              </a:rPr>
              <a:t>“[Approved customer quote about Agentforce resolving routine travel requests and freeing associates for high-touch moments.]”</a:t>
            </a:r>
          </a:p>
        </p:txBody>
      </p:sp>
      <p:sp>
        <p:nvSpPr>
          <p:cNvPr id="8" name="TextBox 7"/>
          <p:cNvSpPr txBox="1"/>
          <p:nvPr/>
        </p:nvSpPr>
        <p:spPr>
          <a:xfrm>
            <a:off x="914400" y="4617720"/>
            <a:ext cx="6035040" cy="365760"/>
          </a:xfrm>
          <a:prstGeom prst="rect">
            <a:avLst/>
          </a:prstGeom>
          <a:noFill/>
        </p:spPr>
        <p:txBody>
          <a:bodyPr wrap="square" lIns="0" rIns="0" tIns="0" bIns="0" anchor="t">
            <a:spAutoFit/>
          </a:bodyPr>
          <a:lstStyle/>
          <a:p>
            <a:pPr algn="l"/>
            <a:r>
              <a:rPr sz="1400" b="0" i="0">
                <a:solidFill>
                  <a:srgbClr val="6B6B6B"/>
                </a:solidFill>
                <a:latin typeface="Calibri"/>
              </a:rPr>
              <a:t>[Name, Title, Company]</a:t>
            </a:r>
          </a:p>
        </p:txBody>
      </p:sp>
      <p:sp>
        <p:nvSpPr>
          <p:cNvPr id="9" name="TextBox 8"/>
          <p:cNvSpPr txBox="1"/>
          <p:nvPr/>
        </p:nvSpPr>
        <p:spPr>
          <a:xfrm>
            <a:off x="914400" y="5120640"/>
            <a:ext cx="6035040" cy="640080"/>
          </a:xfrm>
          <a:prstGeom prst="rect">
            <a:avLst/>
          </a:prstGeom>
          <a:noFill/>
        </p:spPr>
        <p:txBody>
          <a:bodyPr wrap="square" lIns="0" rIns="0" tIns="0" bIns="0" anchor="t">
            <a:spAutoFit/>
          </a:bodyPr>
          <a:lstStyle/>
          <a:p>
            <a:pPr algn="l"/>
            <a:r>
              <a:rPr sz="1100" b="0" i="1">
                <a:solidFill>
                  <a:srgbClr val="6B6B6B"/>
                </a:solidFill>
                <a:latin typeface="Calibri"/>
              </a:rPr>
              <a:t>Source: Slackbot “Customer Story &amp; Deal Win Finder”. Pick a travel &amp; hospitality Agentforce story. Replace all [brackets] before presenting.</a:t>
            </a:r>
          </a:p>
        </p:txBody>
      </p:sp>
      <p:sp>
        <p:nvSpPr>
          <p:cNvPr id="10" name="Rounded Rectangle 9"/>
          <p:cNvSpPr/>
          <p:nvPr/>
        </p:nvSpPr>
        <p:spPr>
          <a:xfrm>
            <a:off x="7543800" y="1828800"/>
            <a:ext cx="4096512" cy="1280160"/>
          </a:xfrm>
          <a:prstGeom prst="roundRect">
            <a:avLst>
              <a:gd name="adj" fmla="val 8000"/>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863840" y="1965960"/>
            <a:ext cx="3566160" cy="594360"/>
          </a:xfrm>
          <a:prstGeom prst="rect">
            <a:avLst/>
          </a:prstGeom>
          <a:noFill/>
        </p:spPr>
        <p:txBody>
          <a:bodyPr wrap="square" lIns="0" rIns="0" tIns="0" bIns="0" anchor="t">
            <a:spAutoFit/>
          </a:bodyPr>
          <a:lstStyle/>
          <a:p>
            <a:pPr algn="l"/>
            <a:r>
              <a:rPr sz="2600" b="1" i="0">
                <a:solidFill>
                  <a:srgbClr val="FFFFFF"/>
                </a:solidFill>
                <a:latin typeface="Cambria"/>
              </a:rPr>
              <a:t>[Metric 1]</a:t>
            </a:r>
          </a:p>
        </p:txBody>
      </p:sp>
      <p:sp>
        <p:nvSpPr>
          <p:cNvPr id="12" name="TextBox 11"/>
          <p:cNvSpPr txBox="1"/>
          <p:nvPr/>
        </p:nvSpPr>
        <p:spPr>
          <a:xfrm>
            <a:off x="7863840" y="2560320"/>
            <a:ext cx="3566160" cy="411480"/>
          </a:xfrm>
          <a:prstGeom prst="rect">
            <a:avLst/>
          </a:prstGeom>
          <a:noFill/>
        </p:spPr>
        <p:txBody>
          <a:bodyPr wrap="square" lIns="0" rIns="0" tIns="0" bIns="0" anchor="t">
            <a:spAutoFit/>
          </a:bodyPr>
          <a:lstStyle/>
          <a:p>
            <a:pPr algn="l"/>
            <a:r>
              <a:rPr sz="1300" b="0" i="0">
                <a:solidFill>
                  <a:srgbClr val="FFFFFF"/>
                </a:solidFill>
                <a:latin typeface="Calibri"/>
              </a:rPr>
              <a:t>e.g. handle time</a:t>
            </a:r>
          </a:p>
        </p:txBody>
      </p:sp>
      <p:sp>
        <p:nvSpPr>
          <p:cNvPr id="13" name="Rounded Rectangle 12"/>
          <p:cNvSpPr/>
          <p:nvPr/>
        </p:nvSpPr>
        <p:spPr>
          <a:xfrm>
            <a:off x="7543800" y="3291840"/>
            <a:ext cx="4096512"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863840" y="3429000"/>
            <a:ext cx="3566160" cy="594360"/>
          </a:xfrm>
          <a:prstGeom prst="rect">
            <a:avLst/>
          </a:prstGeom>
          <a:noFill/>
        </p:spPr>
        <p:txBody>
          <a:bodyPr wrap="square" lIns="0" rIns="0" tIns="0" bIns="0" anchor="t">
            <a:spAutoFit/>
          </a:bodyPr>
          <a:lstStyle/>
          <a:p>
            <a:pPr algn="l"/>
            <a:r>
              <a:rPr sz="2600" b="1" i="0">
                <a:solidFill>
                  <a:srgbClr val="B41F3A"/>
                </a:solidFill>
                <a:latin typeface="Cambria"/>
              </a:rPr>
              <a:t>[Metric 2]</a:t>
            </a:r>
          </a:p>
        </p:txBody>
      </p:sp>
      <p:sp>
        <p:nvSpPr>
          <p:cNvPr id="15" name="TextBox 14"/>
          <p:cNvSpPr txBox="1"/>
          <p:nvPr/>
        </p:nvSpPr>
        <p:spPr>
          <a:xfrm>
            <a:off x="7863840" y="4023360"/>
            <a:ext cx="3566160" cy="411480"/>
          </a:xfrm>
          <a:prstGeom prst="rect">
            <a:avLst/>
          </a:prstGeom>
          <a:noFill/>
        </p:spPr>
        <p:txBody>
          <a:bodyPr wrap="square" lIns="0" rIns="0" tIns="0" bIns="0" anchor="t">
            <a:spAutoFit/>
          </a:bodyPr>
          <a:lstStyle/>
          <a:p>
            <a:pPr algn="l"/>
            <a:r>
              <a:rPr sz="1300" b="0" i="0">
                <a:solidFill>
                  <a:srgbClr val="6B6B6B"/>
                </a:solidFill>
                <a:latin typeface="Calibri"/>
              </a:rPr>
              <a:t>e.g. cases resolved by agent</a:t>
            </a:r>
          </a:p>
        </p:txBody>
      </p:sp>
      <p:sp>
        <p:nvSpPr>
          <p:cNvPr id="16" name="Rounded Rectangle 15"/>
          <p:cNvSpPr/>
          <p:nvPr/>
        </p:nvSpPr>
        <p:spPr>
          <a:xfrm>
            <a:off x="7543800" y="4754880"/>
            <a:ext cx="4096512"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863840" y="4892040"/>
            <a:ext cx="3566160" cy="594360"/>
          </a:xfrm>
          <a:prstGeom prst="rect">
            <a:avLst/>
          </a:prstGeom>
          <a:noFill/>
        </p:spPr>
        <p:txBody>
          <a:bodyPr wrap="square" lIns="0" rIns="0" tIns="0" bIns="0" anchor="t">
            <a:spAutoFit/>
          </a:bodyPr>
          <a:lstStyle/>
          <a:p>
            <a:pPr algn="l"/>
            <a:r>
              <a:rPr sz="2600" b="1" i="0">
                <a:solidFill>
                  <a:srgbClr val="B41F3A"/>
                </a:solidFill>
                <a:latin typeface="Cambria"/>
              </a:rPr>
              <a:t>[Metric 3]</a:t>
            </a:r>
          </a:p>
        </p:txBody>
      </p:sp>
      <p:sp>
        <p:nvSpPr>
          <p:cNvPr id="18" name="TextBox 17"/>
          <p:cNvSpPr txBox="1"/>
          <p:nvPr/>
        </p:nvSpPr>
        <p:spPr>
          <a:xfrm>
            <a:off x="7863840" y="5486400"/>
            <a:ext cx="3566160" cy="411480"/>
          </a:xfrm>
          <a:prstGeom prst="rect">
            <a:avLst/>
          </a:prstGeom>
          <a:noFill/>
        </p:spPr>
        <p:txBody>
          <a:bodyPr wrap="square" lIns="0" rIns="0" tIns="0" bIns="0" anchor="t">
            <a:spAutoFit/>
          </a:bodyPr>
          <a:lstStyle/>
          <a:p>
            <a:pPr algn="l"/>
            <a:r>
              <a:rPr sz="1300" b="0" i="0">
                <a:solidFill>
                  <a:srgbClr val="6B6B6B"/>
                </a:solidFill>
                <a:latin typeface="Calibri"/>
              </a:rPr>
              <a:t>e.g. time to launch</a:t>
            </a:r>
          </a:p>
        </p:txBody>
      </p:sp>
      <p:sp>
        <p:nvSpPr>
          <p:cNvPr id="19" name="TextBox 18"/>
          <p:cNvSpPr txBox="1"/>
          <p:nvPr/>
        </p:nvSpPr>
        <p:spPr>
          <a:xfrm>
            <a:off x="548640" y="6400800"/>
            <a:ext cx="7315200" cy="228600"/>
          </a:xfrm>
          <a:prstGeom prst="rect">
            <a:avLst/>
          </a:prstGeom>
          <a:noFill/>
        </p:spPr>
        <p:txBody>
          <a:bodyPr wrap="square" lIns="0" rIns="0" tIns="0" bIns="0" anchor="t">
            <a:spAutoFit/>
          </a:bodyPr>
          <a:lstStyle/>
          <a:p>
            <a:pPr algn="l"/>
            <a:r>
              <a:rPr sz="900" b="0" i="0">
                <a:solidFill>
                  <a:srgbClr val="6B6B6B"/>
                </a:solidFill>
                <a:latin typeface="Calibri"/>
              </a:rPr>
              <a:t>Mock scenario for Salesforce SE onboarding · Not affiliated with Marriott International</a:t>
            </a:r>
          </a:p>
        </p:txBody>
      </p:sp>
      <p:sp>
        <p:nvSpPr>
          <p:cNvPr id="20" name="TextBox 19"/>
          <p:cNvSpPr txBox="1"/>
          <p:nvPr/>
        </p:nvSpPr>
        <p:spPr>
          <a:xfrm>
            <a:off x="11155680" y="6400800"/>
            <a:ext cx="502920" cy="228600"/>
          </a:xfrm>
          <a:prstGeom prst="rect">
            <a:avLst/>
          </a:prstGeom>
          <a:noFill/>
        </p:spPr>
        <p:txBody>
          <a:bodyPr wrap="square" lIns="0" rIns="0" tIns="0" bIns="0" anchor="t">
            <a:spAutoFit/>
          </a:bodyPr>
          <a:lstStyle/>
          <a:p>
            <a:pPr algn="r"/>
            <a:r>
              <a:rPr sz="900" b="0" i="0">
                <a:solidFill>
                  <a:srgbClr val="6B6B6B"/>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62022"/>
        </a:solidFill>
        <a:effectLst/>
      </p:bgPr>
    </p:bg>
    <p:spTree>
      <p:nvGrpSpPr>
        <p:cNvPr id="1" name=""/>
        <p:cNvGrpSpPr/>
        <p:nvPr/>
      </p:nvGrpSpPr>
      <p:grpSpPr/>
      <p:sp>
        <p:nvSpPr>
          <p:cNvPr id="2" name="TextBox 1"/>
          <p:cNvSpPr txBox="1"/>
          <p:nvPr/>
        </p:nvSpPr>
        <p:spPr>
          <a:xfrm>
            <a:off x="548640" y="411480"/>
            <a:ext cx="5486400" cy="274320"/>
          </a:xfrm>
          <a:prstGeom prst="rect">
            <a:avLst/>
          </a:prstGeom>
          <a:noFill/>
        </p:spPr>
        <p:txBody>
          <a:bodyPr wrap="square" lIns="0" rIns="0" tIns="0" bIns="0" anchor="t">
            <a:spAutoFit/>
          </a:bodyPr>
          <a:lstStyle/>
          <a:p>
            <a:pPr algn="l"/>
            <a:r>
              <a:rPr sz="1100" b="1" i="0">
                <a:solidFill>
                  <a:srgbClr val="B38E5D"/>
                </a:solidFill>
                <a:latin typeface="Calibri"/>
              </a:rPr>
              <a:t>CLOSE · NEXT STEPS</a:t>
            </a:r>
          </a:p>
        </p:txBody>
      </p:sp>
      <p:sp>
        <p:nvSpPr>
          <p:cNvPr id="3" name="Rounded Rectangle 2"/>
          <p:cNvSpPr/>
          <p:nvPr/>
        </p:nvSpPr>
        <p:spPr>
          <a:xfrm>
            <a:off x="10378440" y="365760"/>
            <a:ext cx="1280160" cy="3840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B41F3A"/>
                </a:solidFill>
                <a:latin typeface="Calibri"/>
              </a:rPr>
              <a:t>9:45 – 10:00</a:t>
            </a:r>
          </a:p>
        </p:txBody>
      </p:sp>
      <p:sp>
        <p:nvSpPr>
          <p:cNvPr id="4" name="TextBox 3"/>
          <p:cNvSpPr txBox="1"/>
          <p:nvPr/>
        </p:nvSpPr>
        <p:spPr>
          <a:xfrm>
            <a:off x="548640" y="731520"/>
            <a:ext cx="10058400" cy="822960"/>
          </a:xfrm>
          <a:prstGeom prst="rect">
            <a:avLst/>
          </a:prstGeom>
          <a:noFill/>
        </p:spPr>
        <p:txBody>
          <a:bodyPr wrap="square" lIns="0" rIns="0" tIns="0" bIns="0" anchor="t">
            <a:spAutoFit/>
          </a:bodyPr>
          <a:lstStyle/>
          <a:p>
            <a:pPr algn="l"/>
            <a:r>
              <a:rPr sz="3800" b="1" i="0">
                <a:solidFill>
                  <a:srgbClr val="FFFFFF"/>
                </a:solidFill>
                <a:latin typeface="Cambria"/>
              </a:rPr>
              <a:t>Let's prove it on one request</a:t>
            </a:r>
          </a:p>
        </p:txBody>
      </p:sp>
      <p:sp>
        <p:nvSpPr>
          <p:cNvPr id="5" name="Rounded Rectangle 4"/>
          <p:cNvSpPr/>
          <p:nvPr/>
        </p:nvSpPr>
        <p:spPr>
          <a:xfrm>
            <a:off x="548640" y="1828800"/>
            <a:ext cx="3520440" cy="3017520"/>
          </a:xfrm>
          <a:prstGeom prst="roundRect">
            <a:avLst>
              <a:gd name="adj" fmla="val 8000"/>
            </a:avLst>
          </a:prstGeom>
          <a:solidFill>
            <a:srgbClr val="362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2103120"/>
            <a:ext cx="2926080" cy="365760"/>
          </a:xfrm>
          <a:prstGeom prst="rect">
            <a:avLst/>
          </a:prstGeom>
          <a:noFill/>
        </p:spPr>
        <p:txBody>
          <a:bodyPr wrap="square" lIns="0" rIns="0" tIns="0" bIns="0" anchor="t">
            <a:spAutoFit/>
          </a:bodyPr>
          <a:lstStyle/>
          <a:p>
            <a:pPr algn="l"/>
            <a:r>
              <a:rPr sz="1200" b="1" i="0">
                <a:solidFill>
                  <a:srgbClr val="B38E5D"/>
                </a:solidFill>
                <a:latin typeface="Calibri"/>
              </a:rPr>
              <a:t>THIS WEEK</a:t>
            </a:r>
          </a:p>
        </p:txBody>
      </p:sp>
      <p:sp>
        <p:nvSpPr>
          <p:cNvPr id="7" name="TextBox 6"/>
          <p:cNvSpPr txBox="1"/>
          <p:nvPr/>
        </p:nvSpPr>
        <p:spPr>
          <a:xfrm>
            <a:off x="868680" y="2560320"/>
            <a:ext cx="2926080" cy="1097280"/>
          </a:xfrm>
          <a:prstGeom prst="rect">
            <a:avLst/>
          </a:prstGeom>
          <a:noFill/>
        </p:spPr>
        <p:txBody>
          <a:bodyPr wrap="square" lIns="0" rIns="0" tIns="0" bIns="0" anchor="t">
            <a:spAutoFit/>
          </a:bodyPr>
          <a:lstStyle/>
          <a:p>
            <a:pPr algn="l"/>
            <a:r>
              <a:rPr sz="2000" b="1" i="0">
                <a:solidFill>
                  <a:srgbClr val="FFFFFF"/>
                </a:solidFill>
                <a:latin typeface="Cambria"/>
              </a:rPr>
              <a:t>60-minute discovery workshop with Suki &amp; Mateo</a:t>
            </a:r>
          </a:p>
        </p:txBody>
      </p:sp>
      <p:sp>
        <p:nvSpPr>
          <p:cNvPr id="8" name="TextBox 7"/>
          <p:cNvSpPr txBox="1"/>
          <p:nvPr/>
        </p:nvSpPr>
        <p:spPr>
          <a:xfrm>
            <a:off x="868680" y="3703320"/>
            <a:ext cx="2926080" cy="1005840"/>
          </a:xfrm>
          <a:prstGeom prst="rect">
            <a:avLst/>
          </a:prstGeom>
          <a:noFill/>
        </p:spPr>
        <p:txBody>
          <a:bodyPr wrap="square" lIns="0" rIns="0" tIns="0" bIns="0" anchor="t">
            <a:spAutoFit/>
          </a:bodyPr>
          <a:lstStyle/>
          <a:p>
            <a:pPr algn="l"/>
            <a:r>
              <a:rPr sz="1400" b="0" i="0">
                <a:solidFill>
                  <a:srgbClr val="D9CFD1"/>
                </a:solidFill>
                <a:latin typeface="Calibri"/>
              </a:rPr>
              <a:t>Map the top 5 CEC requests and pull real case volumes.</a:t>
            </a:r>
          </a:p>
        </p:txBody>
      </p:sp>
      <p:sp>
        <p:nvSpPr>
          <p:cNvPr id="9" name="Rounded Rectangle 8"/>
          <p:cNvSpPr/>
          <p:nvPr/>
        </p:nvSpPr>
        <p:spPr>
          <a:xfrm>
            <a:off x="4297679" y="1828800"/>
            <a:ext cx="3520440" cy="3017520"/>
          </a:xfrm>
          <a:prstGeom prst="roundRect">
            <a:avLst>
              <a:gd name="adj" fmla="val 8000"/>
            </a:avLst>
          </a:prstGeom>
          <a:solidFill>
            <a:srgbClr val="362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17719" y="2103120"/>
            <a:ext cx="2926080" cy="365760"/>
          </a:xfrm>
          <a:prstGeom prst="rect">
            <a:avLst/>
          </a:prstGeom>
          <a:noFill/>
        </p:spPr>
        <p:txBody>
          <a:bodyPr wrap="square" lIns="0" rIns="0" tIns="0" bIns="0" anchor="t">
            <a:spAutoFit/>
          </a:bodyPr>
          <a:lstStyle/>
          <a:p>
            <a:pPr algn="l"/>
            <a:r>
              <a:rPr sz="1200" b="1" i="0">
                <a:solidFill>
                  <a:srgbClr val="B38E5D"/>
                </a:solidFill>
                <a:latin typeface="Calibri"/>
              </a:rPr>
              <a:t>WEEKS 1–2</a:t>
            </a:r>
          </a:p>
        </p:txBody>
      </p:sp>
      <p:sp>
        <p:nvSpPr>
          <p:cNvPr id="11" name="TextBox 10"/>
          <p:cNvSpPr txBox="1"/>
          <p:nvPr/>
        </p:nvSpPr>
        <p:spPr>
          <a:xfrm>
            <a:off x="4617719" y="2560320"/>
            <a:ext cx="2926080" cy="1097280"/>
          </a:xfrm>
          <a:prstGeom prst="rect">
            <a:avLst/>
          </a:prstGeom>
          <a:noFill/>
        </p:spPr>
        <p:txBody>
          <a:bodyPr wrap="square" lIns="0" rIns="0" tIns="0" bIns="0" anchor="t">
            <a:spAutoFit/>
          </a:bodyPr>
          <a:lstStyle/>
          <a:p>
            <a:pPr algn="l"/>
            <a:r>
              <a:rPr sz="2000" b="1" i="0">
                <a:solidFill>
                  <a:srgbClr val="FFFFFF"/>
                </a:solidFill>
                <a:latin typeface="Cambria"/>
              </a:rPr>
              <a:t>Agentforce pilot: Missing Stays &amp; Points</a:t>
            </a:r>
          </a:p>
        </p:txBody>
      </p:sp>
      <p:sp>
        <p:nvSpPr>
          <p:cNvPr id="12" name="TextBox 11"/>
          <p:cNvSpPr txBox="1"/>
          <p:nvPr/>
        </p:nvSpPr>
        <p:spPr>
          <a:xfrm>
            <a:off x="4617719" y="3703320"/>
            <a:ext cx="2926080" cy="1005840"/>
          </a:xfrm>
          <a:prstGeom prst="rect">
            <a:avLst/>
          </a:prstGeom>
          <a:noFill/>
        </p:spPr>
        <p:txBody>
          <a:bodyPr wrap="square" lIns="0" rIns="0" tIns="0" bIns="0" anchor="t">
            <a:spAutoFit/>
          </a:bodyPr>
          <a:lstStyle/>
          <a:p>
            <a:pPr algn="l"/>
            <a:r>
              <a:rPr sz="1400" b="0" i="0">
                <a:solidFill>
                  <a:srgbClr val="D9CFD1"/>
                </a:solidFill>
                <a:latin typeface="Calibri"/>
              </a:rPr>
              <a:t>One brand, one channel, connected to a sample of PMS stay data.</a:t>
            </a:r>
          </a:p>
        </p:txBody>
      </p:sp>
      <p:sp>
        <p:nvSpPr>
          <p:cNvPr id="13" name="Rounded Rectangle 12"/>
          <p:cNvSpPr/>
          <p:nvPr/>
        </p:nvSpPr>
        <p:spPr>
          <a:xfrm>
            <a:off x="8046719" y="1828800"/>
            <a:ext cx="3520440" cy="3017520"/>
          </a:xfrm>
          <a:prstGeom prst="roundRect">
            <a:avLst>
              <a:gd name="adj" fmla="val 8000"/>
            </a:avLst>
          </a:prstGeom>
          <a:solidFill>
            <a:srgbClr val="362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66759" y="2103120"/>
            <a:ext cx="2926080" cy="365760"/>
          </a:xfrm>
          <a:prstGeom prst="rect">
            <a:avLst/>
          </a:prstGeom>
          <a:noFill/>
        </p:spPr>
        <p:txBody>
          <a:bodyPr wrap="square" lIns="0" rIns="0" tIns="0" bIns="0" anchor="t">
            <a:spAutoFit/>
          </a:bodyPr>
          <a:lstStyle/>
          <a:p>
            <a:pPr algn="l"/>
            <a:r>
              <a:rPr sz="1200" b="1" i="0">
                <a:solidFill>
                  <a:srgbClr val="B38E5D"/>
                </a:solidFill>
                <a:latin typeface="Calibri"/>
              </a:rPr>
              <a:t>WEEK 3</a:t>
            </a:r>
          </a:p>
        </p:txBody>
      </p:sp>
      <p:sp>
        <p:nvSpPr>
          <p:cNvPr id="15" name="TextBox 14"/>
          <p:cNvSpPr txBox="1"/>
          <p:nvPr/>
        </p:nvSpPr>
        <p:spPr>
          <a:xfrm>
            <a:off x="8366759" y="2560320"/>
            <a:ext cx="2926080" cy="1097280"/>
          </a:xfrm>
          <a:prstGeom prst="rect">
            <a:avLst/>
          </a:prstGeom>
          <a:noFill/>
        </p:spPr>
        <p:txBody>
          <a:bodyPr wrap="square" lIns="0" rIns="0" tIns="0" bIns="0" anchor="t">
            <a:spAutoFit/>
          </a:bodyPr>
          <a:lstStyle/>
          <a:p>
            <a:pPr algn="l"/>
            <a:r>
              <a:rPr sz="2000" b="1" i="0">
                <a:solidFill>
                  <a:srgbClr val="FFFFFF"/>
                </a:solidFill>
                <a:latin typeface="Cambria"/>
              </a:rPr>
              <a:t>Business case review with Sofia &amp; Jess</a:t>
            </a:r>
          </a:p>
        </p:txBody>
      </p:sp>
      <p:sp>
        <p:nvSpPr>
          <p:cNvPr id="16" name="TextBox 15"/>
          <p:cNvSpPr txBox="1"/>
          <p:nvPr/>
        </p:nvSpPr>
        <p:spPr>
          <a:xfrm>
            <a:off x="8366759" y="3703320"/>
            <a:ext cx="2926080" cy="1005840"/>
          </a:xfrm>
          <a:prstGeom prst="rect">
            <a:avLst/>
          </a:prstGeom>
          <a:noFill/>
        </p:spPr>
        <p:txBody>
          <a:bodyPr wrap="square" lIns="0" rIns="0" tIns="0" bIns="0" anchor="t">
            <a:spAutoFit/>
          </a:bodyPr>
          <a:lstStyle/>
          <a:p>
            <a:pPr algn="l"/>
            <a:r>
              <a:rPr sz="1400" b="0" i="0">
                <a:solidFill>
                  <a:srgbClr val="D9CFD1"/>
                </a:solidFill>
                <a:latin typeface="Calibri"/>
              </a:rPr>
              <a:t>Measured resolution rate, handle time and CSAT, plus the roll-out plan.</a:t>
            </a:r>
          </a:p>
        </p:txBody>
      </p:sp>
      <p:sp>
        <p:nvSpPr>
          <p:cNvPr id="17" name="Rounded Rectangle 16"/>
          <p:cNvSpPr/>
          <p:nvPr/>
        </p:nvSpPr>
        <p:spPr>
          <a:xfrm>
            <a:off x="548640" y="5166360"/>
            <a:ext cx="11091672" cy="914400"/>
          </a:xfrm>
          <a:prstGeom prst="roundRect">
            <a:avLst>
              <a:gd name="adj" fmla="val 8000"/>
            </a:avLst>
          </a:prstGeom>
          <a:solidFill>
            <a:srgbClr val="B4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8680" y="5166360"/>
            <a:ext cx="10515600" cy="914400"/>
          </a:xfrm>
          <a:prstGeom prst="rect">
            <a:avLst/>
          </a:prstGeom>
          <a:noFill/>
        </p:spPr>
        <p:txBody>
          <a:bodyPr wrap="square" lIns="0" rIns="0" tIns="0" bIns="0" anchor="ctr">
            <a:spAutoFit/>
          </a:bodyPr>
          <a:lstStyle/>
          <a:p>
            <a:pPr algn="l"/>
            <a:r>
              <a:rPr sz="2000" b="1" i="0">
                <a:solidFill>
                  <a:srgbClr val="FFFFFF"/>
                </a:solidFill>
                <a:latin typeface="Cambria"/>
              </a:rPr>
              <a:t>Can we get 60 minutes with Suki and Mateo on the calendar this week?</a:t>
            </a:r>
          </a:p>
        </p:txBody>
      </p:sp>
      <p:sp>
        <p:nvSpPr>
          <p:cNvPr id="19" name="TextBox 18"/>
          <p:cNvSpPr txBox="1"/>
          <p:nvPr/>
        </p:nvSpPr>
        <p:spPr>
          <a:xfrm>
            <a:off x="548640" y="6400800"/>
            <a:ext cx="7315200" cy="228600"/>
          </a:xfrm>
          <a:prstGeom prst="rect">
            <a:avLst/>
          </a:prstGeom>
          <a:noFill/>
        </p:spPr>
        <p:txBody>
          <a:bodyPr wrap="square" lIns="0" rIns="0" tIns="0" bIns="0" anchor="t">
            <a:spAutoFit/>
          </a:bodyPr>
          <a:lstStyle/>
          <a:p>
            <a:pPr algn="l"/>
            <a:r>
              <a:rPr sz="900" b="0" i="0">
                <a:solidFill>
                  <a:srgbClr val="D9CFD1"/>
                </a:solidFill>
                <a:latin typeface="Calibri"/>
              </a:rPr>
              <a:t>Mock scenario for Salesforce SE onboarding · Not affiliated with Marriott International</a:t>
            </a:r>
          </a:p>
        </p:txBody>
      </p:sp>
      <p:sp>
        <p:nvSpPr>
          <p:cNvPr id="20" name="TextBox 19"/>
          <p:cNvSpPr txBox="1"/>
          <p:nvPr/>
        </p:nvSpPr>
        <p:spPr>
          <a:xfrm>
            <a:off x="11155680" y="6400800"/>
            <a:ext cx="502920" cy="228600"/>
          </a:xfrm>
          <a:prstGeom prst="rect">
            <a:avLst/>
          </a:prstGeom>
          <a:noFill/>
        </p:spPr>
        <p:txBody>
          <a:bodyPr wrap="square" lIns="0" rIns="0" tIns="0" bIns="0" anchor="t">
            <a:spAutoFit/>
          </a:bodyPr>
          <a:lstStyle/>
          <a:p>
            <a:pPr algn="r"/>
            <a:r>
              <a:rPr sz="900" b="0" i="0">
                <a:solidFill>
                  <a:srgbClr val="D9CFD1"/>
                </a:solidFill>
                <a:latin typeface="Calibri"/>
              </a:rP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